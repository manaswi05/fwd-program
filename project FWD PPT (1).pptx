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228" y="60325"/>
            <a:ext cx="1532021" cy="6207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1225" y="460431"/>
            <a:ext cx="10369550" cy="872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9025" y="1786204"/>
            <a:ext cx="10155555" cy="3848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58419" y="6466776"/>
            <a:ext cx="71945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1225" y="6466776"/>
            <a:ext cx="73596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75491" y="6466763"/>
            <a:ext cx="243611" cy="1778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2.co/" TargetMode="Externa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4.co/" TargetMode="Externa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9407" y="460431"/>
            <a:ext cx="625221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70C0"/>
                </a:solidFill>
                <a:latin typeface="Times New Roman"/>
                <a:cs typeface="Times New Roman"/>
              </a:rPr>
              <a:t>Title:</a:t>
            </a:r>
            <a:r>
              <a:rPr dirty="0" sz="2800" spc="-45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70C0"/>
                </a:solidFill>
                <a:latin typeface="Times New Roman"/>
                <a:cs typeface="Times New Roman"/>
              </a:rPr>
              <a:t>Personalised</a:t>
            </a:r>
            <a:r>
              <a:rPr dirty="0" sz="2800" spc="-35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70C0"/>
                </a:solidFill>
                <a:latin typeface="Times New Roman"/>
                <a:cs typeface="Times New Roman"/>
              </a:rPr>
              <a:t>Career</a:t>
            </a:r>
            <a:r>
              <a:rPr dirty="0" sz="2800" spc="-35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0070C0"/>
                </a:solidFill>
                <a:latin typeface="Times New Roman"/>
                <a:cs typeface="Times New Roman"/>
              </a:rPr>
              <a:t>Roadmap</a:t>
            </a:r>
            <a:r>
              <a:rPr dirty="0" sz="2800" spc="-35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dirty="0" sz="2800" spc="-10">
                <a:solidFill>
                  <a:srgbClr val="0070C0"/>
                </a:solidFill>
                <a:latin typeface="Times New Roman"/>
                <a:cs typeface="Times New Roman"/>
              </a:rPr>
              <a:t>builder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1225" y="6428676"/>
            <a:ext cx="735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888888"/>
                </a:solidFill>
                <a:latin typeface="Calibri"/>
                <a:cs typeface="Calibri"/>
              </a:rPr>
              <a:t>04-03-2026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6361" y="5015918"/>
            <a:ext cx="1725711" cy="93097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02906" y="1075555"/>
            <a:ext cx="4179570" cy="40252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2700" marR="5080">
              <a:lnSpc>
                <a:spcPts val="3020"/>
              </a:lnSpc>
              <a:spcBef>
                <a:spcPts val="85"/>
              </a:spcBef>
            </a:pPr>
            <a:r>
              <a:rPr dirty="0" sz="2400">
                <a:latin typeface="Calibri"/>
                <a:cs typeface="Calibri"/>
              </a:rPr>
              <a:t>S</a:t>
            </a:r>
            <a:r>
              <a:rPr dirty="0" sz="2400">
                <a:latin typeface="Times New Roman"/>
                <a:cs typeface="Times New Roman"/>
              </a:rPr>
              <a:t>tudent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Name: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Manaswi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chilukuri </a:t>
            </a:r>
            <a:r>
              <a:rPr dirty="0" sz="2400">
                <a:latin typeface="Times New Roman"/>
                <a:cs typeface="Times New Roman"/>
              </a:rPr>
              <a:t>Student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ID: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2520030411</a:t>
            </a:r>
            <a:r>
              <a:rPr dirty="0" sz="2400" spc="6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Cluster:2</a:t>
            </a:r>
            <a:endParaRPr sz="2400">
              <a:latin typeface="Times New Roman"/>
              <a:cs typeface="Times New Roman"/>
            </a:endParaRPr>
          </a:p>
          <a:p>
            <a:pPr algn="ctr" marL="4445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Section: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5"/>
              </a:spcBef>
            </a:pPr>
            <a:endParaRPr sz="2400">
              <a:latin typeface="Times New Roman"/>
              <a:cs typeface="Times New Roman"/>
            </a:endParaRPr>
          </a:p>
          <a:p>
            <a:pPr algn="ctr" marL="1265555" marR="569595">
              <a:lnSpc>
                <a:spcPct val="107000"/>
              </a:lnSpc>
              <a:spcBef>
                <a:spcPts val="5"/>
              </a:spcBef>
            </a:pPr>
            <a:r>
              <a:rPr dirty="0" sz="2250">
                <a:latin typeface="Calibri"/>
                <a:cs typeface="Calibri"/>
              </a:rPr>
              <a:t>Under</a:t>
            </a:r>
            <a:r>
              <a:rPr dirty="0" sz="2250" spc="-65">
                <a:latin typeface="Calibri"/>
                <a:cs typeface="Calibri"/>
              </a:rPr>
              <a:t> </a:t>
            </a:r>
            <a:r>
              <a:rPr dirty="0" sz="2250">
                <a:latin typeface="Calibri"/>
                <a:cs typeface="Calibri"/>
              </a:rPr>
              <a:t>the</a:t>
            </a:r>
            <a:r>
              <a:rPr dirty="0" sz="2250" spc="-65">
                <a:latin typeface="Calibri"/>
                <a:cs typeface="Calibri"/>
              </a:rPr>
              <a:t> </a:t>
            </a:r>
            <a:r>
              <a:rPr dirty="0" sz="2250" spc="-10">
                <a:latin typeface="Calibri"/>
                <a:cs typeface="Calibri"/>
              </a:rPr>
              <a:t>Guidance </a:t>
            </a:r>
            <a:r>
              <a:rPr dirty="0" sz="2250" spc="-25">
                <a:latin typeface="Calibri"/>
                <a:cs typeface="Calibri"/>
              </a:rPr>
              <a:t>of</a:t>
            </a:r>
            <a:endParaRPr sz="2250">
              <a:latin typeface="Calibri"/>
              <a:cs typeface="Calibri"/>
            </a:endParaRPr>
          </a:p>
          <a:p>
            <a:pPr algn="ctr" marL="874394" marR="179070">
              <a:lnSpc>
                <a:spcPct val="107000"/>
              </a:lnSpc>
            </a:pPr>
            <a:r>
              <a:rPr dirty="0" sz="2250">
                <a:solidFill>
                  <a:srgbClr val="00B050"/>
                </a:solidFill>
                <a:latin typeface="Calibri"/>
                <a:cs typeface="Calibri"/>
              </a:rPr>
              <a:t>Supervisor</a:t>
            </a:r>
            <a:r>
              <a:rPr dirty="0" sz="2250" spc="-8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00B050"/>
                </a:solidFill>
                <a:latin typeface="Calibri"/>
                <a:cs typeface="Calibri"/>
              </a:rPr>
              <a:t>Name:</a:t>
            </a:r>
            <a:r>
              <a:rPr dirty="0" sz="2250" spc="-8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00B050"/>
                </a:solidFill>
                <a:latin typeface="Calibri"/>
                <a:cs typeface="Calibri"/>
              </a:rPr>
              <a:t>xxxxxxxx Assistant</a:t>
            </a:r>
            <a:r>
              <a:rPr dirty="0" sz="2250" spc="-4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250" spc="-10">
                <a:solidFill>
                  <a:srgbClr val="00B050"/>
                </a:solidFill>
                <a:latin typeface="Calibri"/>
                <a:cs typeface="Calibri"/>
              </a:rPr>
              <a:t>Professor Department</a:t>
            </a:r>
            <a:r>
              <a:rPr dirty="0" sz="2250" spc="-55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dirty="0" sz="2250" spc="-5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dirty="0" sz="2250" spc="-25">
                <a:solidFill>
                  <a:srgbClr val="00B050"/>
                </a:solidFill>
                <a:latin typeface="Calibri"/>
                <a:cs typeface="Calibri"/>
              </a:rPr>
              <a:t>CSE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178133" y="6428676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49" rIns="0" bIns="0" rtlCol="0" vert="horz">
            <a:spAutoFit/>
          </a:bodyPr>
          <a:lstStyle/>
          <a:p>
            <a:pPr marL="433324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Calibri"/>
                <a:cs typeface="Calibri"/>
              </a:rPr>
              <a:t>OUTLINE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6031315" y="6466776"/>
            <a:ext cx="1200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853638" y="1398646"/>
            <a:ext cx="194310" cy="222123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750" spc="-25">
                <a:latin typeface="Calibri"/>
                <a:cs typeface="Calibri"/>
              </a:rPr>
              <a:t>1.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750" spc="-25">
                <a:latin typeface="Calibri"/>
                <a:cs typeface="Calibri"/>
              </a:rPr>
              <a:t>2.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750" spc="-25">
                <a:latin typeface="Calibri"/>
                <a:cs typeface="Calibri"/>
              </a:rPr>
              <a:t>3.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750" spc="-25">
                <a:latin typeface="Calibri"/>
                <a:cs typeface="Calibri"/>
              </a:rPr>
              <a:t>4.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750" spc="-25">
                <a:latin typeface="Calibri"/>
                <a:cs typeface="Calibri"/>
              </a:rPr>
              <a:t>5.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750" spc="-25">
                <a:latin typeface="Calibri"/>
                <a:cs typeface="Calibri"/>
              </a:rPr>
              <a:t>6.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750" spc="-25">
                <a:latin typeface="Calibri"/>
                <a:cs typeface="Calibri"/>
              </a:rPr>
              <a:t>7.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25575" y="1398646"/>
            <a:ext cx="2148205" cy="222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48665">
              <a:lnSpc>
                <a:spcPct val="117600"/>
              </a:lnSpc>
              <a:spcBef>
                <a:spcPts val="100"/>
              </a:spcBef>
            </a:pPr>
            <a:r>
              <a:rPr dirty="0" sz="1750" spc="-10">
                <a:latin typeface="Calibri"/>
                <a:cs typeface="Calibri"/>
              </a:rPr>
              <a:t>Abstract Existing</a:t>
            </a:r>
            <a:r>
              <a:rPr dirty="0" sz="1750" spc="-3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System</a:t>
            </a:r>
            <a:endParaRPr sz="1750">
              <a:latin typeface="Calibri"/>
              <a:cs typeface="Calibri"/>
            </a:endParaRPr>
          </a:p>
          <a:p>
            <a:pPr marL="12700" marR="319405">
              <a:lnSpc>
                <a:spcPct val="117600"/>
              </a:lnSpc>
            </a:pPr>
            <a:r>
              <a:rPr dirty="0" sz="1750" spc="-10">
                <a:latin typeface="Calibri"/>
                <a:cs typeface="Calibri"/>
              </a:rPr>
              <a:t>Proposed</a:t>
            </a:r>
            <a:r>
              <a:rPr dirty="0" sz="1750" spc="-4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System System</a:t>
            </a:r>
            <a:r>
              <a:rPr dirty="0" sz="1750" spc="-75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Architecture </a:t>
            </a:r>
            <a:r>
              <a:rPr dirty="0" sz="1750">
                <a:latin typeface="Calibri"/>
                <a:cs typeface="Calibri"/>
              </a:rPr>
              <a:t>Project</a:t>
            </a:r>
            <a:r>
              <a:rPr dirty="0" sz="1750" spc="-60">
                <a:latin typeface="Calibri"/>
                <a:cs typeface="Calibri"/>
              </a:rPr>
              <a:t> </a:t>
            </a:r>
            <a:r>
              <a:rPr dirty="0" sz="1750" spc="-10">
                <a:latin typeface="Calibri"/>
                <a:cs typeface="Calibri"/>
              </a:rPr>
              <a:t>Modules Objectives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750" spc="-20">
                <a:latin typeface="Calibri"/>
                <a:cs typeface="Calibri"/>
              </a:rPr>
              <a:t>Co’s</a:t>
            </a:r>
            <a:r>
              <a:rPr dirty="0" sz="1750" spc="-35">
                <a:latin typeface="Calibri"/>
                <a:cs typeface="Calibri"/>
              </a:rPr>
              <a:t> </a:t>
            </a:r>
            <a:r>
              <a:rPr dirty="0" sz="1750" spc="-20">
                <a:latin typeface="Calibri"/>
                <a:cs typeface="Calibri"/>
              </a:rPr>
              <a:t>Attainments</a:t>
            </a:r>
            <a:r>
              <a:rPr dirty="0" sz="1750" spc="-3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30">
                <a:latin typeface="Calibri"/>
                <a:cs typeface="Calibri"/>
              </a:rPr>
              <a:t> </a:t>
            </a:r>
            <a:r>
              <a:rPr dirty="0" sz="1750" spc="-25">
                <a:latin typeface="Calibri"/>
                <a:cs typeface="Calibri"/>
              </a:rPr>
              <a:t>FWD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19032" y="3588380"/>
            <a:ext cx="170180" cy="477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dirty="0" sz="1500" spc="-25">
                <a:latin typeface="Calibri"/>
                <a:cs typeface="Calibri"/>
              </a:rPr>
              <a:t>1.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780"/>
              </a:lnSpc>
            </a:pPr>
            <a:r>
              <a:rPr dirty="0" sz="1500" spc="-25">
                <a:latin typeface="Calibri"/>
                <a:cs typeface="Calibri"/>
              </a:rPr>
              <a:t>2.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82775" y="3588380"/>
            <a:ext cx="1372870" cy="477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dirty="0" sz="1500" spc="-25">
                <a:latin typeface="Calibri"/>
                <a:cs typeface="Calibri"/>
              </a:rPr>
              <a:t>Co1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780"/>
              </a:lnSpc>
            </a:pPr>
            <a:r>
              <a:rPr dirty="0" sz="1500">
                <a:latin typeface="Calibri"/>
                <a:cs typeface="Calibri"/>
              </a:rPr>
              <a:t>Co2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Arial MT"/>
                <a:cs typeface="Arial MT"/>
              </a:rPr>
              <a:t>……</a:t>
            </a:r>
            <a:r>
              <a:rPr dirty="0" sz="1500">
                <a:latin typeface="Calibri"/>
                <a:cs typeface="Calibri"/>
              </a:rPr>
              <a:t>..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5.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Co5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53638" y="4088506"/>
            <a:ext cx="19431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5">
                <a:latin typeface="Calibri"/>
                <a:cs typeface="Calibri"/>
              </a:rPr>
              <a:t>8.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25575" y="4088506"/>
            <a:ext cx="207772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0">
                <a:latin typeface="Calibri"/>
                <a:cs typeface="Calibri"/>
              </a:rPr>
              <a:t>Co’s</a:t>
            </a:r>
            <a:r>
              <a:rPr dirty="0" sz="1750" spc="-35">
                <a:latin typeface="Calibri"/>
                <a:cs typeface="Calibri"/>
              </a:rPr>
              <a:t> </a:t>
            </a:r>
            <a:r>
              <a:rPr dirty="0" sz="1750" spc="-20">
                <a:latin typeface="Calibri"/>
                <a:cs typeface="Calibri"/>
              </a:rPr>
              <a:t>Attainments</a:t>
            </a:r>
            <a:r>
              <a:rPr dirty="0" sz="1750" spc="-3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-</a:t>
            </a:r>
            <a:r>
              <a:rPr dirty="0" sz="1750" spc="-30">
                <a:latin typeface="Calibri"/>
                <a:cs typeface="Calibri"/>
              </a:rPr>
              <a:t> </a:t>
            </a:r>
            <a:r>
              <a:rPr dirty="0" sz="1750" spc="-25">
                <a:latin typeface="Calibri"/>
                <a:cs typeface="Calibri"/>
              </a:rPr>
              <a:t>DSA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19032" y="4349110"/>
            <a:ext cx="170180" cy="477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dirty="0" sz="1500" spc="-25">
                <a:latin typeface="Calibri"/>
                <a:cs typeface="Calibri"/>
              </a:rPr>
              <a:t>1.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780"/>
              </a:lnSpc>
            </a:pPr>
            <a:r>
              <a:rPr dirty="0" sz="1500" spc="-25">
                <a:latin typeface="Calibri"/>
                <a:cs typeface="Calibri"/>
              </a:rPr>
              <a:t>2.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82775" y="4349110"/>
            <a:ext cx="1372870" cy="477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780"/>
              </a:lnSpc>
              <a:spcBef>
                <a:spcPts val="100"/>
              </a:spcBef>
            </a:pPr>
            <a:r>
              <a:rPr dirty="0" sz="1500" spc="-25">
                <a:latin typeface="Calibri"/>
                <a:cs typeface="Calibri"/>
              </a:rPr>
              <a:t>Co1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780"/>
              </a:lnSpc>
            </a:pPr>
            <a:r>
              <a:rPr dirty="0" sz="1500">
                <a:latin typeface="Calibri"/>
                <a:cs typeface="Calibri"/>
              </a:rPr>
              <a:t>Co2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Arial MT"/>
                <a:cs typeface="Arial MT"/>
              </a:rPr>
              <a:t>……</a:t>
            </a:r>
            <a:r>
              <a:rPr dirty="0" sz="1500">
                <a:latin typeface="Calibri"/>
                <a:cs typeface="Calibri"/>
              </a:rPr>
              <a:t>..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5.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Co5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41019" y="4802246"/>
            <a:ext cx="306705" cy="966469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470"/>
              </a:spcBef>
            </a:pPr>
            <a:r>
              <a:rPr dirty="0" sz="1750" spc="-25">
                <a:latin typeface="Calibri"/>
                <a:cs typeface="Calibri"/>
              </a:rPr>
              <a:t>9.</a:t>
            </a:r>
            <a:endParaRPr sz="175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370"/>
              </a:spcBef>
            </a:pPr>
            <a:r>
              <a:rPr dirty="0" sz="1750" spc="-25">
                <a:latin typeface="Calibri"/>
                <a:cs typeface="Calibri"/>
              </a:rPr>
              <a:t>10.</a:t>
            </a:r>
            <a:endParaRPr sz="175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370"/>
              </a:spcBef>
            </a:pPr>
            <a:r>
              <a:rPr dirty="0" sz="1750" spc="-25">
                <a:latin typeface="Calibri"/>
                <a:cs typeface="Calibri"/>
              </a:rPr>
              <a:t>11.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25575" y="4802246"/>
            <a:ext cx="2593340" cy="9664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50">
                <a:latin typeface="Calibri"/>
                <a:cs typeface="Calibri"/>
              </a:rPr>
              <a:t>Screen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Shots</a:t>
            </a:r>
            <a:r>
              <a:rPr dirty="0" sz="1750" spc="-4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for</a:t>
            </a:r>
            <a:r>
              <a:rPr dirty="0" sz="1750" spc="-45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FWD</a:t>
            </a:r>
            <a:r>
              <a:rPr dirty="0" sz="1750" spc="-50">
                <a:latin typeface="Calibri"/>
                <a:cs typeface="Calibri"/>
              </a:rPr>
              <a:t> </a:t>
            </a:r>
            <a:r>
              <a:rPr dirty="0" sz="1750">
                <a:latin typeface="Calibri"/>
                <a:cs typeface="Calibri"/>
              </a:rPr>
              <a:t>&amp;</a:t>
            </a:r>
            <a:r>
              <a:rPr dirty="0" sz="1750" spc="-45">
                <a:latin typeface="Calibri"/>
                <a:cs typeface="Calibri"/>
              </a:rPr>
              <a:t> </a:t>
            </a:r>
            <a:r>
              <a:rPr dirty="0" sz="1750" spc="-25">
                <a:latin typeface="Calibri"/>
                <a:cs typeface="Calibri"/>
              </a:rPr>
              <a:t>DSA </a:t>
            </a:r>
            <a:r>
              <a:rPr dirty="0" sz="1750" spc="-10">
                <a:latin typeface="Calibri"/>
                <a:cs typeface="Calibri"/>
              </a:rPr>
              <a:t>Conclusion</a:t>
            </a: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750" spc="-20">
                <a:latin typeface="Calibri"/>
                <a:cs typeface="Calibri"/>
              </a:rPr>
              <a:t>Geo-</a:t>
            </a:r>
            <a:r>
              <a:rPr dirty="0" sz="1750" spc="-25">
                <a:latin typeface="Calibri"/>
                <a:cs typeface="Calibri"/>
              </a:rPr>
              <a:t>Tagged </a:t>
            </a:r>
            <a:r>
              <a:rPr dirty="0" sz="1750" spc="-10">
                <a:latin typeface="Calibri"/>
                <a:cs typeface="Calibri"/>
              </a:rPr>
              <a:t>Photos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86742" y="538680"/>
            <a:ext cx="195961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 b="1">
                <a:latin typeface="Calibri"/>
                <a:cs typeface="Calibri"/>
              </a:rPr>
              <a:t>Abstract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031315" y="6466776"/>
            <a:ext cx="1200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009030" y="1828336"/>
            <a:ext cx="10180955" cy="415607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371475" marR="687705" indent="-359410">
              <a:lnSpc>
                <a:spcPts val="2310"/>
              </a:lnSpc>
              <a:spcBef>
                <a:spcPts val="280"/>
              </a:spcBef>
              <a:buSzPct val="85000"/>
              <a:buFont typeface="Arial MT"/>
              <a:buChar char="●"/>
              <a:tabLst>
                <a:tab pos="371475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Career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Roadmap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Builder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web-based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developed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help </a:t>
            </a:r>
            <a:r>
              <a:rPr dirty="0" sz="2000">
                <a:latin typeface="Times New Roman"/>
                <a:cs typeface="Times New Roman"/>
              </a:rPr>
              <a:t>students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plan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career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paths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structured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organized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manner.</a:t>
            </a:r>
            <a:endParaRPr sz="2000">
              <a:latin typeface="Times New Roman"/>
              <a:cs typeface="Times New Roman"/>
            </a:endParaRPr>
          </a:p>
          <a:p>
            <a:pPr marL="371475" marR="5080" indent="-359410">
              <a:lnSpc>
                <a:spcPts val="2310"/>
              </a:lnSpc>
              <a:spcBef>
                <a:spcPts val="10"/>
              </a:spcBef>
              <a:buSzPct val="85000"/>
              <a:buFont typeface="Arial MT"/>
              <a:buChar char="●"/>
              <a:tabLst>
                <a:tab pos="371475" algn="l"/>
              </a:tabLst>
            </a:pPr>
            <a:r>
              <a:rPr dirty="0" sz="2000">
                <a:latin typeface="Times New Roman"/>
                <a:cs typeface="Times New Roman"/>
              </a:rPr>
              <a:t>Many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students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face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confusion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while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choosing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career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lack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proper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guidance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clear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about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required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skills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paths.</a:t>
            </a:r>
            <a:endParaRPr sz="2000">
              <a:latin typeface="Times New Roman"/>
              <a:cs typeface="Times New Roman"/>
            </a:endParaRPr>
          </a:p>
          <a:p>
            <a:pPr marL="371475" marR="250190" indent="-359410">
              <a:lnSpc>
                <a:spcPts val="2310"/>
              </a:lnSpc>
              <a:spcBef>
                <a:spcPts val="10"/>
              </a:spcBef>
              <a:buSzPct val="85000"/>
              <a:buFont typeface="Arial MT"/>
              <a:buChar char="●"/>
              <a:tabLst>
                <a:tab pos="371475" algn="l"/>
              </a:tabLst>
            </a:pPr>
            <a:r>
              <a:rPr dirty="0" sz="2000">
                <a:latin typeface="Times New Roman"/>
                <a:cs typeface="Times New Roman"/>
              </a:rPr>
              <a:t>This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aims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enter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interests,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preferred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career </a:t>
            </a:r>
            <a:r>
              <a:rPr dirty="0" sz="2000">
                <a:latin typeface="Times New Roman"/>
                <a:cs typeface="Times New Roman"/>
              </a:rPr>
              <a:t>field,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career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goals.</a:t>
            </a:r>
            <a:endParaRPr sz="2000">
              <a:latin typeface="Times New Roman"/>
              <a:cs typeface="Times New Roman"/>
            </a:endParaRPr>
          </a:p>
          <a:p>
            <a:pPr marL="371475" marR="913130" indent="-359410">
              <a:lnSpc>
                <a:spcPts val="2310"/>
              </a:lnSpc>
              <a:spcBef>
                <a:spcPts val="5"/>
              </a:spcBef>
              <a:buSzPct val="85000"/>
              <a:buFont typeface="Arial MT"/>
              <a:buChar char="●"/>
              <a:tabLst>
                <a:tab pos="371475" algn="l"/>
              </a:tabLst>
            </a:pP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input,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generates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personalised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roadmap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outlines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>
                <a:latin typeface="Times New Roman"/>
                <a:cs typeface="Times New Roman"/>
              </a:rPr>
              <a:t>necessary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skills,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steps,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milestones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required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achieve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desired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career.</a:t>
            </a:r>
            <a:endParaRPr sz="2000">
              <a:latin typeface="Times New Roman"/>
              <a:cs typeface="Times New Roman"/>
            </a:endParaRPr>
          </a:p>
          <a:p>
            <a:pPr marL="371475" marR="570865" indent="-359410">
              <a:lnSpc>
                <a:spcPts val="2310"/>
              </a:lnSpc>
              <a:spcBef>
                <a:spcPts val="10"/>
              </a:spcBef>
              <a:buSzPct val="85000"/>
              <a:buFont typeface="Arial MT"/>
              <a:buChar char="●"/>
              <a:tabLst>
                <a:tab pos="371475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roadmap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students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understand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sequence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important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stages </a:t>
            </a:r>
            <a:r>
              <a:rPr dirty="0" sz="2000">
                <a:latin typeface="Times New Roman"/>
                <a:cs typeface="Times New Roman"/>
              </a:rPr>
              <a:t>involved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reaching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professional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goals.</a:t>
            </a:r>
            <a:endParaRPr sz="2000">
              <a:latin typeface="Times New Roman"/>
              <a:cs typeface="Times New Roman"/>
            </a:endParaRPr>
          </a:p>
          <a:p>
            <a:pPr marL="371475" marR="29845" indent="-359410">
              <a:lnSpc>
                <a:spcPts val="2310"/>
              </a:lnSpc>
              <a:spcBef>
                <a:spcPts val="10"/>
              </a:spcBef>
              <a:buSzPct val="85000"/>
              <a:buFont typeface="Arial MT"/>
              <a:buChar char="●"/>
              <a:tabLst>
                <a:tab pos="371475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project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demonstrates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how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web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technologies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used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create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practical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tools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assist </a:t>
            </a:r>
            <a:r>
              <a:rPr dirty="0" sz="2000">
                <a:latin typeface="Times New Roman"/>
                <a:cs typeface="Times New Roman"/>
              </a:rPr>
              <a:t>students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making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informed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career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decisions.</a:t>
            </a:r>
            <a:endParaRPr sz="2000">
              <a:latin typeface="Times New Roman"/>
              <a:cs typeface="Times New Roman"/>
            </a:endParaRPr>
          </a:p>
          <a:p>
            <a:pPr marL="371475" marR="178435" indent="-359410">
              <a:lnSpc>
                <a:spcPts val="2310"/>
              </a:lnSpc>
              <a:spcBef>
                <a:spcPts val="10"/>
              </a:spcBef>
              <a:buSzPct val="85000"/>
              <a:buFont typeface="Arial MT"/>
              <a:buChar char="●"/>
              <a:tabLst>
                <a:tab pos="371475" algn="l"/>
              </a:tabLst>
            </a:pPr>
            <a:r>
              <a:rPr dirty="0" sz="2000">
                <a:latin typeface="Times New Roman"/>
                <a:cs typeface="Times New Roman"/>
              </a:rPr>
              <a:t>Overall,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gain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clarity,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set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achievable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goals,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follow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structured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path </a:t>
            </a:r>
            <a:r>
              <a:rPr dirty="0" sz="2000">
                <a:latin typeface="Times New Roman"/>
                <a:cs typeface="Times New Roman"/>
              </a:rPr>
              <a:t>toward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their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chosen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career.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3789" y="538680"/>
            <a:ext cx="35839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Existing</a:t>
            </a:r>
            <a:r>
              <a:rPr dirty="0" spc="-100" b="1">
                <a:latin typeface="Calibri"/>
                <a:cs typeface="Calibri"/>
              </a:rPr>
              <a:t> </a:t>
            </a:r>
            <a:r>
              <a:rPr dirty="0" spc="-25" b="1">
                <a:latin typeface="Calibri"/>
                <a:cs typeface="Calibri"/>
              </a:rPr>
              <a:t>System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031315" y="6466776"/>
            <a:ext cx="1200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061798" y="1822079"/>
            <a:ext cx="10056495" cy="37953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18770" indent="-306070">
              <a:lnSpc>
                <a:spcPts val="3035"/>
              </a:lnSpc>
              <a:spcBef>
                <a:spcPts val="90"/>
              </a:spcBef>
              <a:buSzPct val="38461"/>
              <a:buFont typeface="Arial MT"/>
              <a:buChar char="●"/>
              <a:tabLst>
                <a:tab pos="318770" algn="l"/>
              </a:tabLst>
            </a:pPr>
            <a:r>
              <a:rPr dirty="0" sz="2600">
                <a:latin typeface="Times New Roman"/>
                <a:cs typeface="Times New Roman"/>
              </a:rPr>
              <a:t>Students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usually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rely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on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general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career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advice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from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websites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8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blogs.</a:t>
            </a:r>
            <a:endParaRPr sz="2600">
              <a:latin typeface="Times New Roman"/>
              <a:cs typeface="Times New Roman"/>
            </a:endParaRPr>
          </a:p>
          <a:p>
            <a:pPr marL="318770" indent="-306070">
              <a:lnSpc>
                <a:spcPts val="2955"/>
              </a:lnSpc>
              <a:buSzPct val="38461"/>
              <a:buFont typeface="Arial MT"/>
              <a:buChar char="●"/>
              <a:tabLst>
                <a:tab pos="318770" algn="l"/>
              </a:tabLst>
            </a:pPr>
            <a:r>
              <a:rPr dirty="0" sz="2600">
                <a:latin typeface="Times New Roman"/>
                <a:cs typeface="Times New Roman"/>
              </a:rPr>
              <a:t>Career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guidance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often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taken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from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teachers,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friends,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family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members.</a:t>
            </a:r>
            <a:endParaRPr sz="2600">
              <a:latin typeface="Times New Roman"/>
              <a:cs typeface="Times New Roman"/>
            </a:endParaRPr>
          </a:p>
          <a:p>
            <a:pPr marL="318770" marR="729615" indent="-306705">
              <a:lnSpc>
                <a:spcPts val="2950"/>
              </a:lnSpc>
              <a:spcBef>
                <a:spcPts val="155"/>
              </a:spcBef>
              <a:buSzPct val="38461"/>
              <a:buFont typeface="Arial MT"/>
              <a:buChar char="●"/>
              <a:tabLst>
                <a:tab pos="318770" algn="l"/>
              </a:tabLst>
            </a:pPr>
            <a:r>
              <a:rPr dirty="0" sz="2600">
                <a:latin typeface="Times New Roman"/>
                <a:cs typeface="Times New Roman"/>
              </a:rPr>
              <a:t>Most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platforms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provide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generic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career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information,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not</a:t>
            </a:r>
            <a:r>
              <a:rPr dirty="0" sz="2600" spc="-9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personalized guidance.</a:t>
            </a:r>
            <a:endParaRPr sz="2600">
              <a:latin typeface="Times New Roman"/>
              <a:cs typeface="Times New Roman"/>
            </a:endParaRPr>
          </a:p>
          <a:p>
            <a:pPr marL="318770" marR="74295" indent="-306705">
              <a:lnSpc>
                <a:spcPts val="2950"/>
              </a:lnSpc>
              <a:spcBef>
                <a:spcPts val="5"/>
              </a:spcBef>
              <a:buSzPct val="38461"/>
              <a:buFont typeface="Arial MT"/>
              <a:buChar char="●"/>
              <a:tabLst>
                <a:tab pos="318770" algn="l"/>
              </a:tabLst>
            </a:pPr>
            <a:r>
              <a:rPr dirty="0" sz="2600">
                <a:latin typeface="Times New Roman"/>
                <a:cs typeface="Times New Roman"/>
              </a:rPr>
              <a:t>Students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have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search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different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websites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find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required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skills,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courses,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career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paths.</a:t>
            </a:r>
            <a:endParaRPr sz="2600">
              <a:latin typeface="Times New Roman"/>
              <a:cs typeface="Times New Roman"/>
            </a:endParaRPr>
          </a:p>
          <a:p>
            <a:pPr marL="318770" marR="5080" indent="-306705">
              <a:lnSpc>
                <a:spcPts val="2950"/>
              </a:lnSpc>
              <a:spcBef>
                <a:spcPts val="5"/>
              </a:spcBef>
              <a:buSzPct val="38461"/>
              <a:buFont typeface="Arial MT"/>
              <a:buChar char="●"/>
              <a:tabLst>
                <a:tab pos="318770" algn="l"/>
              </a:tabLst>
            </a:pPr>
            <a:r>
              <a:rPr dirty="0" sz="2600">
                <a:latin typeface="Times New Roman"/>
                <a:cs typeface="Times New Roman"/>
              </a:rPr>
              <a:t>There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no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structured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roadmap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that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clearly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shows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step-by-</a:t>
            </a:r>
            <a:r>
              <a:rPr dirty="0" sz="2600">
                <a:latin typeface="Times New Roman"/>
                <a:cs typeface="Times New Roman"/>
              </a:rPr>
              <a:t>step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path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to </a:t>
            </a:r>
            <a:r>
              <a:rPr dirty="0" sz="2600">
                <a:latin typeface="Times New Roman"/>
                <a:cs typeface="Times New Roman"/>
              </a:rPr>
              <a:t>achieve</a:t>
            </a:r>
            <a:r>
              <a:rPr dirty="0" sz="2600" spc="-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8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specific</a:t>
            </a:r>
            <a:r>
              <a:rPr dirty="0" sz="2600" spc="-8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career.</a:t>
            </a:r>
            <a:endParaRPr sz="2600">
              <a:latin typeface="Times New Roman"/>
              <a:cs typeface="Times New Roman"/>
            </a:endParaRPr>
          </a:p>
          <a:p>
            <a:pPr marL="318770" marR="251460" indent="-306705">
              <a:lnSpc>
                <a:spcPts val="2950"/>
              </a:lnSpc>
              <a:spcBef>
                <a:spcPts val="5"/>
              </a:spcBef>
              <a:buSzPct val="38461"/>
              <a:buFont typeface="Arial MT"/>
              <a:buChar char="●"/>
              <a:tabLst>
                <a:tab pos="318770" algn="l"/>
              </a:tabLst>
            </a:pPr>
            <a:r>
              <a:rPr dirty="0" sz="2600">
                <a:latin typeface="Times New Roman"/>
                <a:cs typeface="Times New Roman"/>
              </a:rPr>
              <a:t>Due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to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this,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students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often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feel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confused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and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lack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proper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direction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while </a:t>
            </a:r>
            <a:r>
              <a:rPr dirty="0" sz="2600">
                <a:latin typeface="Times New Roman"/>
                <a:cs typeface="Times New Roman"/>
              </a:rPr>
              <a:t>planning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their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careers.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6323" y="538680"/>
            <a:ext cx="399859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Proposed</a:t>
            </a:r>
            <a:r>
              <a:rPr dirty="0" spc="-90" b="1">
                <a:latin typeface="Calibri"/>
                <a:cs typeface="Calibri"/>
              </a:rPr>
              <a:t> </a:t>
            </a:r>
            <a:r>
              <a:rPr dirty="0" spc="-25" b="1">
                <a:latin typeface="Calibri"/>
                <a:cs typeface="Calibri"/>
              </a:rPr>
              <a:t>System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031315" y="6466776"/>
            <a:ext cx="1200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4139" rIns="0" bIns="0" rtlCol="0" vert="horz">
            <a:spAutoFit/>
          </a:bodyPr>
          <a:lstStyle/>
          <a:p>
            <a:pPr marL="63500" marR="82550" indent="-50800">
              <a:lnSpc>
                <a:spcPct val="70000"/>
              </a:lnSpc>
              <a:spcBef>
                <a:spcPts val="819"/>
              </a:spcBef>
            </a:pPr>
            <a:r>
              <a:rPr dirty="0" sz="2000"/>
              <a:t>The</a:t>
            </a:r>
            <a:r>
              <a:rPr dirty="0" sz="2000" spc="-40"/>
              <a:t> </a:t>
            </a:r>
            <a:r>
              <a:rPr dirty="0" sz="2000"/>
              <a:t>proposed</a:t>
            </a:r>
            <a:r>
              <a:rPr dirty="0" sz="2000" spc="-20"/>
              <a:t> </a:t>
            </a:r>
            <a:r>
              <a:rPr dirty="0" sz="2000"/>
              <a:t>system</a:t>
            </a:r>
            <a:r>
              <a:rPr dirty="0" sz="2000" spc="-25"/>
              <a:t> </a:t>
            </a:r>
            <a:r>
              <a:rPr dirty="0" sz="2000" spc="-10"/>
              <a:t>is</a:t>
            </a:r>
            <a:r>
              <a:rPr dirty="0" sz="2000" spc="-220"/>
              <a:t> </a:t>
            </a:r>
            <a:r>
              <a:rPr dirty="0" sz="2000"/>
              <a:t>a</a:t>
            </a:r>
            <a:r>
              <a:rPr dirty="0" sz="2000" spc="-25"/>
              <a:t> </a:t>
            </a:r>
            <a:r>
              <a:rPr dirty="0" sz="2000" spc="-10" b="1">
                <a:latin typeface="Times New Roman"/>
                <a:cs typeface="Times New Roman"/>
              </a:rPr>
              <a:t>web-</a:t>
            </a:r>
            <a:r>
              <a:rPr dirty="0" sz="2000" b="1">
                <a:latin typeface="Times New Roman"/>
                <a:cs typeface="Times New Roman"/>
              </a:rPr>
              <a:t>based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application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/>
              <a:t>that</a:t>
            </a:r>
            <a:r>
              <a:rPr dirty="0" sz="2000" spc="-25"/>
              <a:t> </a:t>
            </a:r>
            <a:r>
              <a:rPr dirty="0" sz="2000"/>
              <a:t>helps</a:t>
            </a:r>
            <a:r>
              <a:rPr dirty="0" sz="2000" spc="-25"/>
              <a:t> </a:t>
            </a:r>
            <a:r>
              <a:rPr dirty="0" sz="2000"/>
              <a:t>students</a:t>
            </a:r>
            <a:r>
              <a:rPr dirty="0" sz="2000" spc="-25"/>
              <a:t> </a:t>
            </a:r>
            <a:r>
              <a:rPr dirty="0" sz="2000"/>
              <a:t>create</a:t>
            </a:r>
            <a:r>
              <a:rPr dirty="0" sz="2000" spc="-25"/>
              <a:t> </a:t>
            </a:r>
            <a:r>
              <a:rPr dirty="0" sz="2000"/>
              <a:t>a</a:t>
            </a:r>
            <a:r>
              <a:rPr dirty="0" sz="2000" spc="-10"/>
              <a:t> </a:t>
            </a:r>
            <a:r>
              <a:rPr dirty="0" sz="2000" b="1">
                <a:latin typeface="Times New Roman"/>
                <a:cs typeface="Times New Roman"/>
              </a:rPr>
              <a:t>personalized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career </a:t>
            </a:r>
            <a:r>
              <a:rPr dirty="0" sz="2000" b="1">
                <a:latin typeface="Times New Roman"/>
                <a:cs typeface="Times New Roman"/>
              </a:rPr>
              <a:t>roadmap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/>
              <a:t>based</a:t>
            </a:r>
            <a:r>
              <a:rPr dirty="0" sz="2000" spc="-15"/>
              <a:t> </a:t>
            </a:r>
            <a:r>
              <a:rPr dirty="0" sz="2000"/>
              <a:t>on</a:t>
            </a:r>
            <a:r>
              <a:rPr dirty="0" sz="2000" spc="-20"/>
              <a:t> </a:t>
            </a:r>
            <a:r>
              <a:rPr dirty="0" sz="2000"/>
              <a:t>their</a:t>
            </a:r>
            <a:r>
              <a:rPr dirty="0" sz="2000" spc="-15"/>
              <a:t> </a:t>
            </a:r>
            <a:r>
              <a:rPr dirty="0" sz="2000"/>
              <a:t>interests</a:t>
            </a:r>
            <a:r>
              <a:rPr dirty="0" sz="2000" spc="-15"/>
              <a:t> </a:t>
            </a:r>
            <a:r>
              <a:rPr dirty="0" sz="2000"/>
              <a:t>and</a:t>
            </a:r>
            <a:r>
              <a:rPr dirty="0" sz="2000" spc="-15"/>
              <a:t> </a:t>
            </a:r>
            <a:r>
              <a:rPr dirty="0" sz="2000"/>
              <a:t>career</a:t>
            </a:r>
            <a:r>
              <a:rPr dirty="0" sz="2000" spc="-15"/>
              <a:t> </a:t>
            </a:r>
            <a:r>
              <a:rPr dirty="0" sz="2000" spc="-10"/>
              <a:t>goals.</a:t>
            </a:r>
            <a:endParaRPr sz="2000">
              <a:latin typeface="Times New Roman"/>
              <a:cs typeface="Times New Roman"/>
            </a:endParaRPr>
          </a:p>
          <a:p>
            <a:pPr marL="63500" marR="106680" indent="-50800">
              <a:lnSpc>
                <a:spcPct val="70000"/>
              </a:lnSpc>
              <a:spcBef>
                <a:spcPts val="1680"/>
              </a:spcBef>
            </a:pPr>
            <a:r>
              <a:rPr dirty="0" sz="2000"/>
              <a:t>Users</a:t>
            </a:r>
            <a:r>
              <a:rPr dirty="0" sz="2000" spc="-30"/>
              <a:t> </a:t>
            </a:r>
            <a:r>
              <a:rPr dirty="0" sz="2000"/>
              <a:t>can</a:t>
            </a:r>
            <a:r>
              <a:rPr dirty="0" sz="2000" spc="-20"/>
              <a:t> </a:t>
            </a:r>
            <a:r>
              <a:rPr dirty="0" sz="2000"/>
              <a:t>enter</a:t>
            </a:r>
            <a:r>
              <a:rPr dirty="0" sz="2000" spc="-25"/>
              <a:t> </a:t>
            </a:r>
            <a:r>
              <a:rPr dirty="0" sz="2000"/>
              <a:t>their</a:t>
            </a:r>
            <a:r>
              <a:rPr dirty="0" sz="2000" spc="-25"/>
              <a:t> </a:t>
            </a:r>
            <a:r>
              <a:rPr dirty="0" sz="2000" b="1">
                <a:latin typeface="Times New Roman"/>
                <a:cs typeface="Times New Roman"/>
              </a:rPr>
              <a:t>preferred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career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field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or</a:t>
            </a:r>
            <a:r>
              <a:rPr dirty="0" sz="2000" spc="-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interests</a:t>
            </a:r>
            <a:r>
              <a:rPr dirty="0" sz="2000"/>
              <a:t>,</a:t>
            </a:r>
            <a:r>
              <a:rPr dirty="0" sz="2000" spc="-25"/>
              <a:t> </a:t>
            </a:r>
            <a:r>
              <a:rPr dirty="0" sz="2000"/>
              <a:t>and</a:t>
            </a:r>
            <a:r>
              <a:rPr dirty="0" sz="2000" spc="-20"/>
              <a:t> </a:t>
            </a:r>
            <a:r>
              <a:rPr dirty="0" sz="2000"/>
              <a:t>the</a:t>
            </a:r>
            <a:r>
              <a:rPr dirty="0" sz="2000" spc="-25"/>
              <a:t> </a:t>
            </a:r>
            <a:r>
              <a:rPr dirty="0" sz="2000"/>
              <a:t>system</a:t>
            </a:r>
            <a:r>
              <a:rPr dirty="0" sz="2000" spc="-30"/>
              <a:t> </a:t>
            </a:r>
            <a:r>
              <a:rPr dirty="0" sz="2000"/>
              <a:t>generates</a:t>
            </a:r>
            <a:r>
              <a:rPr dirty="0" sz="2000" spc="-25"/>
              <a:t> </a:t>
            </a:r>
            <a:r>
              <a:rPr dirty="0" sz="2000"/>
              <a:t>a</a:t>
            </a:r>
            <a:r>
              <a:rPr dirty="0" sz="2000" spc="-15"/>
              <a:t> </a:t>
            </a:r>
            <a:r>
              <a:rPr dirty="0" sz="2000" spc="-10" b="1">
                <a:latin typeface="Times New Roman"/>
                <a:cs typeface="Times New Roman"/>
              </a:rPr>
              <a:t>step-by-</a:t>
            </a:r>
            <a:r>
              <a:rPr dirty="0" sz="2000" spc="-20" b="1">
                <a:latin typeface="Times New Roman"/>
                <a:cs typeface="Times New Roman"/>
              </a:rPr>
              <a:t>step </a:t>
            </a:r>
            <a:r>
              <a:rPr dirty="0" sz="2000" b="1">
                <a:latin typeface="Times New Roman"/>
                <a:cs typeface="Times New Roman"/>
              </a:rPr>
              <a:t>roadmap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/>
              <a:t>showing</a:t>
            </a:r>
            <a:r>
              <a:rPr dirty="0" sz="2000" spc="-20"/>
              <a:t> </a:t>
            </a:r>
            <a:r>
              <a:rPr dirty="0" sz="2000"/>
              <a:t>the</a:t>
            </a:r>
            <a:r>
              <a:rPr dirty="0" sz="2000" spc="-20"/>
              <a:t> </a:t>
            </a:r>
            <a:r>
              <a:rPr dirty="0" sz="2000"/>
              <a:t>skills</a:t>
            </a:r>
            <a:r>
              <a:rPr dirty="0" sz="2000" spc="-25"/>
              <a:t> </a:t>
            </a:r>
            <a:r>
              <a:rPr dirty="0" sz="2000"/>
              <a:t>and</a:t>
            </a:r>
            <a:r>
              <a:rPr dirty="0" sz="2000" spc="-15"/>
              <a:t> </a:t>
            </a:r>
            <a:r>
              <a:rPr dirty="0" sz="2000"/>
              <a:t>learning</a:t>
            </a:r>
            <a:r>
              <a:rPr dirty="0" sz="2000" spc="-20"/>
              <a:t> </a:t>
            </a:r>
            <a:r>
              <a:rPr dirty="0" sz="2000"/>
              <a:t>stages</a:t>
            </a:r>
            <a:r>
              <a:rPr dirty="0" sz="2000" spc="-20"/>
              <a:t> </a:t>
            </a:r>
            <a:r>
              <a:rPr dirty="0" sz="2000" spc="-10"/>
              <a:t>required.</a:t>
            </a:r>
            <a:endParaRPr sz="2000">
              <a:latin typeface="Times New Roman"/>
              <a:cs typeface="Times New Roman"/>
            </a:endParaRPr>
          </a:p>
          <a:p>
            <a:pPr marL="63500" marR="166370" indent="-50800">
              <a:lnSpc>
                <a:spcPct val="70000"/>
              </a:lnSpc>
              <a:spcBef>
                <a:spcPts val="1680"/>
              </a:spcBef>
            </a:pPr>
            <a:r>
              <a:rPr dirty="0" sz="2000"/>
              <a:t>The</a:t>
            </a:r>
            <a:r>
              <a:rPr dirty="0" sz="2000" spc="-30"/>
              <a:t> </a:t>
            </a:r>
            <a:r>
              <a:rPr dirty="0" sz="2000"/>
              <a:t>platform</a:t>
            </a:r>
            <a:r>
              <a:rPr dirty="0" sz="2000" spc="-25"/>
              <a:t> </a:t>
            </a:r>
            <a:r>
              <a:rPr dirty="0" sz="2000"/>
              <a:t>provides</a:t>
            </a:r>
            <a:r>
              <a:rPr dirty="0" sz="2000" spc="-15"/>
              <a:t> </a:t>
            </a:r>
            <a:r>
              <a:rPr dirty="0" sz="2000" b="1">
                <a:latin typeface="Times New Roman"/>
                <a:cs typeface="Times New Roman"/>
              </a:rPr>
              <a:t>structured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guidance</a:t>
            </a:r>
            <a:r>
              <a:rPr dirty="0" sz="2000"/>
              <a:t>,</a:t>
            </a:r>
            <a:r>
              <a:rPr dirty="0" sz="2000" spc="-20"/>
              <a:t> </a:t>
            </a:r>
            <a:r>
              <a:rPr dirty="0" sz="2000"/>
              <a:t>helping</a:t>
            </a:r>
            <a:r>
              <a:rPr dirty="0" sz="2000" spc="-25"/>
              <a:t> </a:t>
            </a:r>
            <a:r>
              <a:rPr dirty="0" sz="2000"/>
              <a:t>students</a:t>
            </a:r>
            <a:r>
              <a:rPr dirty="0" sz="2000" spc="-25"/>
              <a:t> </a:t>
            </a:r>
            <a:r>
              <a:rPr dirty="0" sz="2000"/>
              <a:t>understand</a:t>
            </a:r>
            <a:r>
              <a:rPr dirty="0" sz="2000" spc="-20"/>
              <a:t> </a:t>
            </a:r>
            <a:r>
              <a:rPr dirty="0" sz="2000"/>
              <a:t>what</a:t>
            </a:r>
            <a:r>
              <a:rPr dirty="0" sz="2000" spc="-30"/>
              <a:t> </a:t>
            </a:r>
            <a:r>
              <a:rPr dirty="0" sz="2000"/>
              <a:t>they</a:t>
            </a:r>
            <a:r>
              <a:rPr dirty="0" sz="2000" spc="-20"/>
              <a:t> </a:t>
            </a:r>
            <a:r>
              <a:rPr dirty="0" sz="2000"/>
              <a:t>need</a:t>
            </a:r>
            <a:r>
              <a:rPr dirty="0" sz="2000" spc="-20"/>
              <a:t> </a:t>
            </a:r>
            <a:r>
              <a:rPr dirty="0" sz="2000"/>
              <a:t>to</a:t>
            </a:r>
            <a:r>
              <a:rPr dirty="0" sz="2000" spc="-25"/>
              <a:t> </a:t>
            </a:r>
            <a:r>
              <a:rPr dirty="0" sz="2000" spc="-10"/>
              <a:t>learn </a:t>
            </a:r>
            <a:r>
              <a:rPr dirty="0" sz="2000"/>
              <a:t>and</a:t>
            </a:r>
            <a:r>
              <a:rPr dirty="0" sz="2000" spc="-15"/>
              <a:t> </a:t>
            </a:r>
            <a:r>
              <a:rPr dirty="0" sz="2000"/>
              <a:t>in</a:t>
            </a:r>
            <a:r>
              <a:rPr dirty="0" sz="2000" spc="-5"/>
              <a:t> </a:t>
            </a:r>
            <a:r>
              <a:rPr dirty="0" sz="2000"/>
              <a:t>what</a:t>
            </a:r>
            <a:r>
              <a:rPr dirty="0" sz="2000" spc="-10"/>
              <a:t> order.</a:t>
            </a:r>
            <a:endParaRPr sz="2000">
              <a:latin typeface="Times New Roman"/>
              <a:cs typeface="Times New Roman"/>
            </a:endParaRPr>
          </a:p>
          <a:p>
            <a:pPr marL="63500" marR="331470" indent="-50800">
              <a:lnSpc>
                <a:spcPct val="70000"/>
              </a:lnSpc>
              <a:spcBef>
                <a:spcPts val="1680"/>
              </a:spcBef>
            </a:pPr>
            <a:r>
              <a:rPr dirty="0" sz="2000"/>
              <a:t>It</a:t>
            </a:r>
            <a:r>
              <a:rPr dirty="0" sz="2000" spc="-25"/>
              <a:t> </a:t>
            </a:r>
            <a:r>
              <a:rPr dirty="0" sz="2000"/>
              <a:t>reduces</a:t>
            </a:r>
            <a:r>
              <a:rPr dirty="0" sz="2000" spc="-20"/>
              <a:t> </a:t>
            </a:r>
            <a:r>
              <a:rPr dirty="0" sz="2000"/>
              <a:t>confusion</a:t>
            </a:r>
            <a:r>
              <a:rPr dirty="0" sz="2000" spc="-10"/>
              <a:t> </a:t>
            </a:r>
            <a:r>
              <a:rPr dirty="0" sz="2000"/>
              <a:t>by</a:t>
            </a:r>
            <a:r>
              <a:rPr dirty="0" sz="2000" spc="-10"/>
              <a:t> </a:t>
            </a:r>
            <a:r>
              <a:rPr dirty="0" sz="2000"/>
              <a:t>presenting</a:t>
            </a:r>
            <a:r>
              <a:rPr dirty="0" sz="2000" spc="-20"/>
              <a:t> </a:t>
            </a:r>
            <a:r>
              <a:rPr dirty="0" sz="2000" b="1">
                <a:latin typeface="Times New Roman"/>
                <a:cs typeface="Times New Roman"/>
              </a:rPr>
              <a:t>clear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milestones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such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as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learning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skills,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building</a:t>
            </a:r>
            <a:r>
              <a:rPr dirty="0" sz="2000" spc="-10" b="1">
                <a:latin typeface="Times New Roman"/>
                <a:cs typeface="Times New Roman"/>
              </a:rPr>
              <a:t> projects,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gaining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experience</a:t>
            </a:r>
            <a:r>
              <a:rPr dirty="0" sz="2000" spc="-10"/>
              <a:t>.</a:t>
            </a:r>
            <a:endParaRPr sz="2000">
              <a:latin typeface="Times New Roman"/>
              <a:cs typeface="Times New Roman"/>
            </a:endParaRPr>
          </a:p>
          <a:p>
            <a:pPr marL="63500" marR="401955" indent="-50800">
              <a:lnSpc>
                <a:spcPct val="70000"/>
              </a:lnSpc>
              <a:spcBef>
                <a:spcPts val="1680"/>
              </a:spcBef>
            </a:pPr>
            <a:r>
              <a:rPr dirty="0" sz="2000"/>
              <a:t>The</a:t>
            </a:r>
            <a:r>
              <a:rPr dirty="0" sz="2000" spc="-25"/>
              <a:t> </a:t>
            </a:r>
            <a:r>
              <a:rPr dirty="0" sz="2000"/>
              <a:t>system</a:t>
            </a:r>
            <a:r>
              <a:rPr dirty="0" sz="2000" spc="-20"/>
              <a:t> </a:t>
            </a:r>
            <a:r>
              <a:rPr dirty="0" sz="2000"/>
              <a:t>offers</a:t>
            </a:r>
            <a:r>
              <a:rPr dirty="0" sz="2000" spc="-20"/>
              <a:t> </a:t>
            </a:r>
            <a:r>
              <a:rPr dirty="0" sz="2000"/>
              <a:t>a</a:t>
            </a:r>
            <a:r>
              <a:rPr dirty="0" sz="2000" spc="-10"/>
              <a:t> </a:t>
            </a:r>
            <a:r>
              <a:rPr dirty="0" sz="2000" b="1">
                <a:latin typeface="Times New Roman"/>
                <a:cs typeface="Times New Roman"/>
              </a:rPr>
              <a:t>simple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user-</a:t>
            </a:r>
            <a:r>
              <a:rPr dirty="0" sz="2000" b="1">
                <a:latin typeface="Times New Roman"/>
                <a:cs typeface="Times New Roman"/>
              </a:rPr>
              <a:t>friendly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interface</a:t>
            </a:r>
            <a:r>
              <a:rPr dirty="0" sz="2000"/>
              <a:t>,</a:t>
            </a:r>
            <a:r>
              <a:rPr dirty="0" sz="2000" spc="-15"/>
              <a:t> </a:t>
            </a:r>
            <a:r>
              <a:rPr dirty="0" sz="2000"/>
              <a:t>making</a:t>
            </a:r>
            <a:r>
              <a:rPr dirty="0" sz="2000" spc="-15"/>
              <a:t> </a:t>
            </a:r>
            <a:r>
              <a:rPr dirty="0" sz="2000"/>
              <a:t>it</a:t>
            </a:r>
            <a:r>
              <a:rPr dirty="0" sz="2000" spc="-20"/>
              <a:t> </a:t>
            </a:r>
            <a:r>
              <a:rPr dirty="0" sz="2000"/>
              <a:t>easy</a:t>
            </a:r>
            <a:r>
              <a:rPr dirty="0" sz="2000" spc="-15"/>
              <a:t> </a:t>
            </a:r>
            <a:r>
              <a:rPr dirty="0" sz="2000"/>
              <a:t>for</a:t>
            </a:r>
            <a:r>
              <a:rPr dirty="0" sz="2000" spc="-15"/>
              <a:t> </a:t>
            </a:r>
            <a:r>
              <a:rPr dirty="0" sz="2000"/>
              <a:t>students</a:t>
            </a:r>
            <a:r>
              <a:rPr dirty="0" sz="2000" spc="-20"/>
              <a:t> </a:t>
            </a:r>
            <a:r>
              <a:rPr dirty="0" sz="2000"/>
              <a:t>to</a:t>
            </a:r>
            <a:r>
              <a:rPr dirty="0" sz="2000" spc="-15"/>
              <a:t> </a:t>
            </a:r>
            <a:r>
              <a:rPr dirty="0" sz="2000" spc="-10"/>
              <a:t>explore </a:t>
            </a:r>
            <a:r>
              <a:rPr dirty="0" sz="2000"/>
              <a:t>different</a:t>
            </a:r>
            <a:r>
              <a:rPr dirty="0" sz="2000" spc="-40"/>
              <a:t> </a:t>
            </a:r>
            <a:r>
              <a:rPr dirty="0" sz="2000"/>
              <a:t>career</a:t>
            </a:r>
            <a:r>
              <a:rPr dirty="0" sz="2000" spc="-30"/>
              <a:t> </a:t>
            </a:r>
            <a:r>
              <a:rPr dirty="0" sz="2000" spc="-10"/>
              <a:t>paths.</a:t>
            </a:r>
            <a:endParaRPr sz="2000">
              <a:latin typeface="Times New Roman"/>
              <a:cs typeface="Times New Roman"/>
            </a:endParaRPr>
          </a:p>
          <a:p>
            <a:pPr marL="63500" marR="5080" indent="-50800">
              <a:lnSpc>
                <a:spcPct val="70000"/>
              </a:lnSpc>
              <a:spcBef>
                <a:spcPts val="1680"/>
              </a:spcBef>
            </a:pPr>
            <a:r>
              <a:rPr dirty="0" sz="2000"/>
              <a:t>By</a:t>
            </a:r>
            <a:r>
              <a:rPr dirty="0" sz="2000" spc="-15"/>
              <a:t> </a:t>
            </a:r>
            <a:r>
              <a:rPr dirty="0" sz="2000"/>
              <a:t>using</a:t>
            </a:r>
            <a:r>
              <a:rPr dirty="0" sz="2000" spc="-15"/>
              <a:t> </a:t>
            </a:r>
            <a:r>
              <a:rPr dirty="0" sz="2000"/>
              <a:t>technology</a:t>
            </a:r>
            <a:r>
              <a:rPr dirty="0" sz="2000" spc="-15"/>
              <a:t> </a:t>
            </a:r>
            <a:r>
              <a:rPr dirty="0" sz="2000"/>
              <a:t>to</a:t>
            </a:r>
            <a:r>
              <a:rPr dirty="0" sz="2000" spc="-15"/>
              <a:t> </a:t>
            </a:r>
            <a:r>
              <a:rPr dirty="0" sz="2000"/>
              <a:t>organize</a:t>
            </a:r>
            <a:r>
              <a:rPr dirty="0" sz="2000" spc="-20"/>
              <a:t> </a:t>
            </a:r>
            <a:r>
              <a:rPr dirty="0" sz="2000"/>
              <a:t>career</a:t>
            </a:r>
            <a:r>
              <a:rPr dirty="0" sz="2000" spc="-15"/>
              <a:t> </a:t>
            </a:r>
            <a:r>
              <a:rPr dirty="0" sz="2000"/>
              <a:t>information,</a:t>
            </a:r>
            <a:r>
              <a:rPr dirty="0" sz="2000" spc="-15"/>
              <a:t> </a:t>
            </a:r>
            <a:r>
              <a:rPr dirty="0" sz="2000"/>
              <a:t>the</a:t>
            </a:r>
            <a:r>
              <a:rPr dirty="0" sz="2000" spc="-20"/>
              <a:t> </a:t>
            </a:r>
            <a:r>
              <a:rPr dirty="0" sz="2000"/>
              <a:t>proposed</a:t>
            </a:r>
            <a:r>
              <a:rPr dirty="0" sz="2000" spc="-15"/>
              <a:t> </a:t>
            </a:r>
            <a:r>
              <a:rPr dirty="0" sz="2000"/>
              <a:t>system</a:t>
            </a:r>
            <a:r>
              <a:rPr dirty="0" sz="2000" spc="-20"/>
              <a:t> </a:t>
            </a:r>
            <a:r>
              <a:rPr dirty="0" sz="2000"/>
              <a:t>helps</a:t>
            </a:r>
            <a:r>
              <a:rPr dirty="0" sz="2000" spc="-20"/>
              <a:t> </a:t>
            </a:r>
            <a:r>
              <a:rPr dirty="0" sz="2000"/>
              <a:t>students</a:t>
            </a:r>
            <a:r>
              <a:rPr dirty="0" sz="2000" spc="-15"/>
              <a:t> </a:t>
            </a:r>
            <a:r>
              <a:rPr dirty="0" sz="2000" b="1">
                <a:latin typeface="Times New Roman"/>
                <a:cs typeface="Times New Roman"/>
              </a:rPr>
              <a:t>plan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their </a:t>
            </a:r>
            <a:r>
              <a:rPr dirty="0" sz="2000" b="1">
                <a:latin typeface="Times New Roman"/>
                <a:cs typeface="Times New Roman"/>
              </a:rPr>
              <a:t>future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more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effectively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make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inform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49" rIns="0" bIns="0" rtlCol="0" vert="horz">
            <a:spAutoFit/>
          </a:bodyPr>
          <a:lstStyle/>
          <a:p>
            <a:pPr marL="3029585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System</a:t>
            </a:r>
            <a:r>
              <a:rPr dirty="0" spc="-24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Architecture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031315" y="6466776"/>
            <a:ext cx="1200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45"/>
              </a:lnSpc>
              <a:spcBef>
                <a:spcPts val="100"/>
              </a:spcBef>
            </a:pPr>
            <a:r>
              <a:rPr dirty="0" b="1">
                <a:latin typeface="Times New Roman"/>
                <a:cs typeface="Times New Roman"/>
              </a:rPr>
              <a:t>User</a:t>
            </a:r>
            <a:r>
              <a:rPr dirty="0" spc="-7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Interface</a:t>
            </a:r>
            <a:r>
              <a:rPr dirty="0" spc="-3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(Frontend)</a:t>
            </a:r>
          </a:p>
          <a:p>
            <a:pPr marL="128270">
              <a:lnSpc>
                <a:spcPts val="2245"/>
              </a:lnSpc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user</a:t>
            </a:r>
            <a:r>
              <a:rPr dirty="0" spc="-30"/>
              <a:t> </a:t>
            </a:r>
            <a:r>
              <a:rPr dirty="0"/>
              <a:t>interacts</a:t>
            </a:r>
            <a:r>
              <a:rPr dirty="0" spc="-40"/>
              <a:t> </a:t>
            </a:r>
            <a:r>
              <a:rPr dirty="0"/>
              <a:t>with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website</a:t>
            </a:r>
            <a:r>
              <a:rPr dirty="0" spc="-35"/>
              <a:t> </a:t>
            </a:r>
            <a:r>
              <a:rPr dirty="0"/>
              <a:t>by</a:t>
            </a:r>
            <a:r>
              <a:rPr dirty="0" spc="-35"/>
              <a:t> </a:t>
            </a:r>
            <a:r>
              <a:rPr dirty="0"/>
              <a:t>entering</a:t>
            </a:r>
            <a:r>
              <a:rPr dirty="0" spc="-30"/>
              <a:t> </a:t>
            </a:r>
            <a:r>
              <a:rPr dirty="0"/>
              <a:t>their</a:t>
            </a:r>
            <a:r>
              <a:rPr dirty="0" spc="-35"/>
              <a:t> </a:t>
            </a:r>
            <a:r>
              <a:rPr dirty="0"/>
              <a:t>career</a:t>
            </a:r>
            <a:r>
              <a:rPr dirty="0" spc="-30"/>
              <a:t> </a:t>
            </a:r>
            <a:r>
              <a:rPr dirty="0"/>
              <a:t>interests</a:t>
            </a:r>
            <a:r>
              <a:rPr dirty="0" spc="-40"/>
              <a:t> </a:t>
            </a:r>
            <a:r>
              <a:rPr dirty="0"/>
              <a:t>or</a:t>
            </a:r>
            <a:r>
              <a:rPr dirty="0" spc="-30"/>
              <a:t> </a:t>
            </a:r>
            <a:r>
              <a:rPr dirty="0" spc="-10"/>
              <a:t>goals.</a:t>
            </a:r>
          </a:p>
          <a:p>
            <a:pPr marL="12700">
              <a:lnSpc>
                <a:spcPts val="2245"/>
              </a:lnSpc>
              <a:spcBef>
                <a:spcPts val="1055"/>
              </a:spcBef>
            </a:pPr>
            <a:r>
              <a:rPr dirty="0" b="1">
                <a:latin typeface="Times New Roman"/>
                <a:cs typeface="Times New Roman"/>
              </a:rPr>
              <a:t>Input</a:t>
            </a:r>
            <a:r>
              <a:rPr dirty="0" spc="-5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Processing</a:t>
            </a:r>
          </a:p>
          <a:p>
            <a:pPr marL="128270">
              <a:lnSpc>
                <a:spcPts val="2245"/>
              </a:lnSpc>
            </a:pPr>
            <a:r>
              <a:rPr dirty="0"/>
              <a:t>The</a:t>
            </a:r>
            <a:r>
              <a:rPr dirty="0" spc="-30"/>
              <a:t> </a:t>
            </a:r>
            <a:r>
              <a:rPr dirty="0"/>
              <a:t>system</a:t>
            </a:r>
            <a:r>
              <a:rPr dirty="0" spc="-30"/>
              <a:t> </a:t>
            </a:r>
            <a:r>
              <a:rPr dirty="0"/>
              <a:t>processes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user</a:t>
            </a:r>
            <a:r>
              <a:rPr dirty="0" spc="-25"/>
              <a:t> </a:t>
            </a:r>
            <a:r>
              <a:rPr dirty="0"/>
              <a:t>input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25"/>
              <a:t> </a:t>
            </a:r>
            <a:r>
              <a:rPr dirty="0"/>
              <a:t>understand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selected</a:t>
            </a:r>
            <a:r>
              <a:rPr dirty="0" spc="-25"/>
              <a:t> </a:t>
            </a:r>
            <a:r>
              <a:rPr dirty="0"/>
              <a:t>career</a:t>
            </a:r>
            <a:r>
              <a:rPr dirty="0" spc="-25"/>
              <a:t> </a:t>
            </a:r>
            <a:r>
              <a:rPr dirty="0" spc="-10"/>
              <a:t>path.</a:t>
            </a:r>
          </a:p>
          <a:p>
            <a:pPr marL="12700">
              <a:lnSpc>
                <a:spcPts val="2245"/>
              </a:lnSpc>
              <a:spcBef>
                <a:spcPts val="1055"/>
              </a:spcBef>
            </a:pPr>
            <a:r>
              <a:rPr dirty="0" b="1">
                <a:latin typeface="Times New Roman"/>
                <a:cs typeface="Times New Roman"/>
              </a:rPr>
              <a:t>Career</a:t>
            </a:r>
            <a:r>
              <a:rPr dirty="0" spc="-8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Database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/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Data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Mapping</a:t>
            </a:r>
          </a:p>
          <a:p>
            <a:pPr marL="128270">
              <a:lnSpc>
                <a:spcPts val="2245"/>
              </a:lnSpc>
            </a:pPr>
            <a:r>
              <a:rPr dirty="0"/>
              <a:t>The</a:t>
            </a:r>
            <a:r>
              <a:rPr dirty="0" spc="-45"/>
              <a:t> </a:t>
            </a:r>
            <a:r>
              <a:rPr dirty="0"/>
              <a:t>system</a:t>
            </a:r>
            <a:r>
              <a:rPr dirty="0" spc="-40"/>
              <a:t> </a:t>
            </a:r>
            <a:r>
              <a:rPr dirty="0"/>
              <a:t>checks</a:t>
            </a:r>
            <a:r>
              <a:rPr dirty="0" spc="-45"/>
              <a:t> </a:t>
            </a:r>
            <a:r>
              <a:rPr dirty="0"/>
              <a:t>stored</a:t>
            </a:r>
            <a:r>
              <a:rPr dirty="0" spc="-35"/>
              <a:t> </a:t>
            </a:r>
            <a:r>
              <a:rPr dirty="0"/>
              <a:t>information</a:t>
            </a:r>
            <a:r>
              <a:rPr dirty="0" spc="-40"/>
              <a:t> </a:t>
            </a:r>
            <a:r>
              <a:rPr dirty="0"/>
              <a:t>about</a:t>
            </a:r>
            <a:r>
              <a:rPr dirty="0" spc="-40"/>
              <a:t> </a:t>
            </a:r>
            <a:r>
              <a:rPr dirty="0" spc="-10"/>
              <a:t>different</a:t>
            </a:r>
            <a:r>
              <a:rPr dirty="0" spc="-45"/>
              <a:t> </a:t>
            </a:r>
            <a:r>
              <a:rPr dirty="0"/>
              <a:t>careers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their</a:t>
            </a:r>
            <a:r>
              <a:rPr dirty="0" spc="-40"/>
              <a:t> </a:t>
            </a:r>
            <a:r>
              <a:rPr dirty="0"/>
              <a:t>required</a:t>
            </a:r>
            <a:r>
              <a:rPr dirty="0" spc="-35"/>
              <a:t> </a:t>
            </a:r>
            <a:r>
              <a:rPr dirty="0" spc="-10"/>
              <a:t>skills.</a:t>
            </a:r>
          </a:p>
          <a:p>
            <a:pPr marL="12700">
              <a:lnSpc>
                <a:spcPts val="2245"/>
              </a:lnSpc>
              <a:spcBef>
                <a:spcPts val="1055"/>
              </a:spcBef>
            </a:pPr>
            <a:r>
              <a:rPr dirty="0" b="1">
                <a:latin typeface="Times New Roman"/>
                <a:cs typeface="Times New Roman"/>
              </a:rPr>
              <a:t>Roadmap</a:t>
            </a:r>
            <a:r>
              <a:rPr dirty="0" spc="-9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Generation</a:t>
            </a:r>
            <a:r>
              <a:rPr dirty="0" spc="-9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Module</a:t>
            </a:r>
          </a:p>
          <a:p>
            <a:pPr marL="63500" marR="206375" indent="69850">
              <a:lnSpc>
                <a:spcPct val="70000"/>
              </a:lnSpc>
              <a:spcBef>
                <a:spcPts val="395"/>
              </a:spcBef>
            </a:pPr>
            <a:r>
              <a:rPr dirty="0"/>
              <a:t>Based</a:t>
            </a:r>
            <a:r>
              <a:rPr dirty="0" spc="-25"/>
              <a:t> </a:t>
            </a:r>
            <a:r>
              <a:rPr dirty="0"/>
              <a:t>on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selected</a:t>
            </a:r>
            <a:r>
              <a:rPr dirty="0" spc="-25"/>
              <a:t> </a:t>
            </a:r>
            <a:r>
              <a:rPr dirty="0" spc="-10"/>
              <a:t>career,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system</a:t>
            </a:r>
            <a:r>
              <a:rPr dirty="0" spc="-30"/>
              <a:t> </a:t>
            </a:r>
            <a:r>
              <a:rPr dirty="0"/>
              <a:t>generates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25"/>
              <a:t> </a:t>
            </a:r>
            <a:r>
              <a:rPr dirty="0"/>
              <a:t>step-by-step</a:t>
            </a:r>
            <a:r>
              <a:rPr dirty="0" spc="-20"/>
              <a:t> </a:t>
            </a:r>
            <a:r>
              <a:rPr dirty="0"/>
              <a:t>roadmap</a:t>
            </a:r>
            <a:r>
              <a:rPr dirty="0" spc="-25"/>
              <a:t> </a:t>
            </a:r>
            <a:r>
              <a:rPr dirty="0" spc="-10"/>
              <a:t>including </a:t>
            </a:r>
            <a:r>
              <a:rPr dirty="0"/>
              <a:t>skills,</a:t>
            </a:r>
            <a:r>
              <a:rPr dirty="0" spc="-20"/>
              <a:t> </a:t>
            </a:r>
            <a:r>
              <a:rPr dirty="0"/>
              <a:t>learning</a:t>
            </a:r>
            <a:r>
              <a:rPr dirty="0" spc="-20"/>
              <a:t> </a:t>
            </a:r>
            <a:r>
              <a:rPr dirty="0"/>
              <a:t>stages,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0"/>
              <a:t>milestones.</a:t>
            </a:r>
          </a:p>
          <a:p>
            <a:pPr marL="12700">
              <a:lnSpc>
                <a:spcPts val="2245"/>
              </a:lnSpc>
              <a:spcBef>
                <a:spcPts val="1060"/>
              </a:spcBef>
            </a:pPr>
            <a:r>
              <a:rPr dirty="0" b="1">
                <a:latin typeface="Times New Roman"/>
                <a:cs typeface="Times New Roman"/>
              </a:rPr>
              <a:t>Output</a:t>
            </a:r>
            <a:r>
              <a:rPr dirty="0" spc="-7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Display</a:t>
            </a:r>
          </a:p>
          <a:p>
            <a:pPr marL="128270">
              <a:lnSpc>
                <a:spcPts val="2245"/>
              </a:lnSpc>
            </a:pPr>
            <a:r>
              <a:rPr dirty="0"/>
              <a:t>The</a:t>
            </a:r>
            <a:r>
              <a:rPr dirty="0" spc="-25"/>
              <a:t> </a:t>
            </a:r>
            <a:r>
              <a:rPr dirty="0"/>
              <a:t>generated</a:t>
            </a:r>
            <a:r>
              <a:rPr dirty="0" spc="-20"/>
              <a:t> </a:t>
            </a:r>
            <a:r>
              <a:rPr dirty="0"/>
              <a:t>roadmap</a:t>
            </a:r>
            <a:r>
              <a:rPr dirty="0" spc="-1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displayed</a:t>
            </a:r>
            <a:r>
              <a:rPr dirty="0" spc="-20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website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/>
              <a:t>user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 spc="-10"/>
              <a:t>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6072" y="538680"/>
            <a:ext cx="381698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latin typeface="Calibri"/>
                <a:cs typeface="Calibri"/>
              </a:rPr>
              <a:t>Project</a:t>
            </a:r>
            <a:r>
              <a:rPr dirty="0" spc="-9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Modules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031315" y="6466776"/>
            <a:ext cx="1200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253650" y="1032786"/>
            <a:ext cx="9225915" cy="517652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242570" indent="-229870">
              <a:lnSpc>
                <a:spcPct val="100000"/>
              </a:lnSpc>
              <a:spcBef>
                <a:spcPts val="1220"/>
              </a:spcBef>
              <a:buFont typeface="Arial"/>
              <a:buAutoNum type="arabicPeriod"/>
              <a:tabLst>
                <a:tab pos="242570" algn="l"/>
              </a:tabLst>
            </a:pPr>
            <a:r>
              <a:rPr dirty="0" sz="1650" b="1">
                <a:latin typeface="Times New Roman"/>
                <a:cs typeface="Times New Roman"/>
              </a:rPr>
              <a:t>User</a:t>
            </a:r>
            <a:r>
              <a:rPr dirty="0" sz="1650" spc="-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Input</a:t>
            </a:r>
            <a:r>
              <a:rPr dirty="0" sz="1650" spc="35" b="1">
                <a:latin typeface="Times New Roman"/>
                <a:cs typeface="Times New Roman"/>
              </a:rPr>
              <a:t> </a:t>
            </a:r>
            <a:r>
              <a:rPr dirty="0" sz="1650" spc="-10" b="1">
                <a:latin typeface="Times New Roman"/>
                <a:cs typeface="Times New Roman"/>
              </a:rPr>
              <a:t>Module</a:t>
            </a:r>
            <a:endParaRPr sz="1650">
              <a:latin typeface="Times New Roman"/>
              <a:cs typeface="Times New Roman"/>
            </a:endParaRPr>
          </a:p>
          <a:p>
            <a:pPr lvl="1" marL="469265" indent="-356235">
              <a:lnSpc>
                <a:spcPts val="1939"/>
              </a:lnSpc>
              <a:spcBef>
                <a:spcPts val="112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50">
                <a:latin typeface="Times New Roman"/>
                <a:cs typeface="Times New Roman"/>
              </a:rPr>
              <a:t>This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module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allows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users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enter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their </a:t>
            </a:r>
            <a:r>
              <a:rPr dirty="0" sz="1650" b="1">
                <a:latin typeface="Times New Roman"/>
                <a:cs typeface="Times New Roman"/>
              </a:rPr>
              <a:t>career</a:t>
            </a:r>
            <a:r>
              <a:rPr dirty="0" sz="1650" spc="-4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interests,</a:t>
            </a:r>
            <a:r>
              <a:rPr dirty="0" sz="1650" spc="-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skills,</a:t>
            </a:r>
            <a:r>
              <a:rPr dirty="0" sz="1650" spc="-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or</a:t>
            </a:r>
            <a:r>
              <a:rPr dirty="0" sz="1650" spc="-4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preferred</a:t>
            </a:r>
            <a:r>
              <a:rPr dirty="0" sz="1650" spc="-1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career</a:t>
            </a:r>
            <a:r>
              <a:rPr dirty="0" sz="1650" spc="-40" b="1">
                <a:latin typeface="Times New Roman"/>
                <a:cs typeface="Times New Roman"/>
              </a:rPr>
              <a:t> </a:t>
            </a:r>
            <a:r>
              <a:rPr dirty="0" sz="1650" spc="-10" b="1">
                <a:latin typeface="Times New Roman"/>
                <a:cs typeface="Times New Roman"/>
              </a:rPr>
              <a:t>field</a:t>
            </a:r>
            <a:r>
              <a:rPr dirty="0" sz="1650" spc="-1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  <a:p>
            <a:pPr lvl="1" marL="469265" indent="-356235">
              <a:lnSpc>
                <a:spcPts val="1939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650">
                <a:latin typeface="Times New Roman"/>
                <a:cs typeface="Times New Roman"/>
              </a:rPr>
              <a:t>It collects the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required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information</a:t>
            </a:r>
            <a:r>
              <a:rPr dirty="0" sz="1650" spc="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from the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user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through</a:t>
            </a:r>
            <a:r>
              <a:rPr dirty="0" sz="1650" spc="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 simple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form </a:t>
            </a:r>
            <a:r>
              <a:rPr dirty="0" sz="1650" spc="-10">
                <a:latin typeface="Times New Roman"/>
                <a:cs typeface="Times New Roman"/>
              </a:rPr>
              <a:t>interface.</a:t>
            </a:r>
            <a:endParaRPr sz="1650">
              <a:latin typeface="Times New Roman"/>
              <a:cs typeface="Times New Roman"/>
            </a:endParaRPr>
          </a:p>
          <a:p>
            <a:pPr marL="224790" indent="-212090">
              <a:lnSpc>
                <a:spcPct val="100000"/>
              </a:lnSpc>
              <a:spcBef>
                <a:spcPts val="1125"/>
              </a:spcBef>
              <a:buAutoNum type="arabicPeriod"/>
              <a:tabLst>
                <a:tab pos="224790" algn="l"/>
              </a:tabLst>
            </a:pPr>
            <a:r>
              <a:rPr dirty="0" sz="1650" b="1">
                <a:latin typeface="Times New Roman"/>
                <a:cs typeface="Times New Roman"/>
              </a:rPr>
              <a:t>Career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Data</a:t>
            </a:r>
            <a:r>
              <a:rPr dirty="0" sz="1650" spc="10" b="1">
                <a:latin typeface="Times New Roman"/>
                <a:cs typeface="Times New Roman"/>
              </a:rPr>
              <a:t> </a:t>
            </a:r>
            <a:r>
              <a:rPr dirty="0" sz="1650" spc="-10" b="1">
                <a:latin typeface="Times New Roman"/>
                <a:cs typeface="Times New Roman"/>
              </a:rPr>
              <a:t>Module</a:t>
            </a:r>
            <a:endParaRPr sz="1650">
              <a:latin typeface="Times New Roman"/>
              <a:cs typeface="Times New Roman"/>
            </a:endParaRPr>
          </a:p>
          <a:p>
            <a:pPr lvl="1" marL="469265" indent="-356235">
              <a:lnSpc>
                <a:spcPts val="1939"/>
              </a:lnSpc>
              <a:spcBef>
                <a:spcPts val="11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50">
                <a:latin typeface="Times New Roman"/>
                <a:cs typeface="Times New Roman"/>
              </a:rPr>
              <a:t>This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module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stores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information about</a:t>
            </a:r>
            <a:r>
              <a:rPr dirty="0" sz="1650" spc="10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different career</a:t>
            </a:r>
            <a:r>
              <a:rPr dirty="0" sz="1650" spc="-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paths</a:t>
            </a:r>
            <a:r>
              <a:rPr dirty="0" sz="1650" spc="-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and</a:t>
            </a:r>
            <a:r>
              <a:rPr dirty="0" sz="1650" spc="-1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the</a:t>
            </a:r>
            <a:r>
              <a:rPr dirty="0" sz="1650" spc="-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skills</a:t>
            </a:r>
            <a:r>
              <a:rPr dirty="0" sz="1650" spc="-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required</a:t>
            </a:r>
            <a:r>
              <a:rPr dirty="0" sz="1650" spc="-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for</a:t>
            </a:r>
            <a:r>
              <a:rPr dirty="0" sz="1650" spc="-4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each</a:t>
            </a:r>
            <a:r>
              <a:rPr dirty="0" sz="1650" spc="-5" b="1">
                <a:latin typeface="Times New Roman"/>
                <a:cs typeface="Times New Roman"/>
              </a:rPr>
              <a:t> </a:t>
            </a:r>
            <a:r>
              <a:rPr dirty="0" sz="1650" spc="-10" b="1">
                <a:latin typeface="Times New Roman"/>
                <a:cs typeface="Times New Roman"/>
              </a:rPr>
              <a:t>career</a:t>
            </a:r>
            <a:r>
              <a:rPr dirty="0" sz="1650" spc="-1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  <a:p>
            <a:pPr lvl="1" marL="469265" indent="-356235">
              <a:lnSpc>
                <a:spcPts val="1939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650">
                <a:latin typeface="Times New Roman"/>
                <a:cs typeface="Times New Roman"/>
              </a:rPr>
              <a:t>It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acts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as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reference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database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for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generating career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roadmaps.</a:t>
            </a:r>
            <a:endParaRPr sz="1650">
              <a:latin typeface="Times New Roman"/>
              <a:cs typeface="Times New Roman"/>
            </a:endParaRPr>
          </a:p>
          <a:p>
            <a:pPr marL="224790" indent="-212090">
              <a:lnSpc>
                <a:spcPct val="100000"/>
              </a:lnSpc>
              <a:spcBef>
                <a:spcPts val="1125"/>
              </a:spcBef>
              <a:buAutoNum type="arabicPeriod"/>
              <a:tabLst>
                <a:tab pos="224790" algn="l"/>
              </a:tabLst>
            </a:pPr>
            <a:r>
              <a:rPr dirty="0" sz="1650" b="1">
                <a:latin typeface="Times New Roman"/>
                <a:cs typeface="Times New Roman"/>
              </a:rPr>
              <a:t>Roadmap</a:t>
            </a:r>
            <a:r>
              <a:rPr dirty="0" sz="1650" spc="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Generation</a:t>
            </a:r>
            <a:r>
              <a:rPr dirty="0" sz="1650" spc="35" b="1">
                <a:latin typeface="Times New Roman"/>
                <a:cs typeface="Times New Roman"/>
              </a:rPr>
              <a:t> </a:t>
            </a:r>
            <a:r>
              <a:rPr dirty="0" sz="1650" spc="-10" b="1">
                <a:latin typeface="Times New Roman"/>
                <a:cs typeface="Times New Roman"/>
              </a:rPr>
              <a:t>Module</a:t>
            </a:r>
            <a:endParaRPr sz="1650">
              <a:latin typeface="Times New Roman"/>
              <a:cs typeface="Times New Roman"/>
            </a:endParaRPr>
          </a:p>
          <a:p>
            <a:pPr lvl="1" marL="469265" indent="-356235">
              <a:lnSpc>
                <a:spcPts val="1939"/>
              </a:lnSpc>
              <a:spcBef>
                <a:spcPts val="112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50">
                <a:latin typeface="Times New Roman"/>
                <a:cs typeface="Times New Roman"/>
              </a:rPr>
              <a:t>This module processes the user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input and</a:t>
            </a:r>
            <a:r>
              <a:rPr dirty="0" sz="1650" spc="25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matches it</a:t>
            </a:r>
            <a:r>
              <a:rPr dirty="0" sz="1650" spc="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with the stored career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spc="-10" b="1">
                <a:latin typeface="Times New Roman"/>
                <a:cs typeface="Times New Roman"/>
              </a:rPr>
              <a:t>data</a:t>
            </a:r>
            <a:r>
              <a:rPr dirty="0" sz="1650" spc="-10"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  <a:p>
            <a:pPr lvl="1" marL="469265" indent="-356235">
              <a:lnSpc>
                <a:spcPts val="1939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650">
                <a:latin typeface="Times New Roman"/>
                <a:cs typeface="Times New Roman"/>
              </a:rPr>
              <a:t>It generates a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step-by-step career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roadmap</a:t>
            </a:r>
            <a:r>
              <a:rPr dirty="0" sz="1650" spc="20" b="1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including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skills,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learning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stages,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and</a:t>
            </a:r>
            <a:r>
              <a:rPr dirty="0" sz="1650" spc="1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milestones.</a:t>
            </a:r>
            <a:endParaRPr sz="1650">
              <a:latin typeface="Times New Roman"/>
              <a:cs typeface="Times New Roman"/>
            </a:endParaRPr>
          </a:p>
          <a:p>
            <a:pPr marL="224790" indent="-212090">
              <a:lnSpc>
                <a:spcPct val="100000"/>
              </a:lnSpc>
              <a:spcBef>
                <a:spcPts val="1125"/>
              </a:spcBef>
              <a:buAutoNum type="arabicPeriod"/>
              <a:tabLst>
                <a:tab pos="224790" algn="l"/>
              </a:tabLst>
            </a:pPr>
            <a:r>
              <a:rPr dirty="0" sz="1650" b="1">
                <a:latin typeface="Times New Roman"/>
                <a:cs typeface="Times New Roman"/>
              </a:rPr>
              <a:t>Output</a:t>
            </a:r>
            <a:r>
              <a:rPr dirty="0" sz="1650" spc="5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Display</a:t>
            </a:r>
            <a:r>
              <a:rPr dirty="0" sz="1650" spc="55" b="1">
                <a:latin typeface="Times New Roman"/>
                <a:cs typeface="Times New Roman"/>
              </a:rPr>
              <a:t> </a:t>
            </a:r>
            <a:r>
              <a:rPr dirty="0" sz="1650" spc="-10" b="1">
                <a:latin typeface="Times New Roman"/>
                <a:cs typeface="Times New Roman"/>
              </a:rPr>
              <a:t>Module</a:t>
            </a:r>
            <a:endParaRPr sz="1650">
              <a:latin typeface="Times New Roman"/>
              <a:cs typeface="Times New Roman"/>
            </a:endParaRPr>
          </a:p>
          <a:p>
            <a:pPr lvl="1" marL="469265" indent="-356235">
              <a:lnSpc>
                <a:spcPts val="1939"/>
              </a:lnSpc>
              <a:spcBef>
                <a:spcPts val="112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50">
                <a:latin typeface="Times New Roman"/>
                <a:cs typeface="Times New Roman"/>
              </a:rPr>
              <a:t>This</a:t>
            </a:r>
            <a:r>
              <a:rPr dirty="0" sz="1650" spc="-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module displays the</a:t>
            </a:r>
            <a:r>
              <a:rPr dirty="0" sz="1650" spc="15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generated career</a:t>
            </a:r>
            <a:r>
              <a:rPr dirty="0" sz="1650" spc="-3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roadmap</a:t>
            </a:r>
            <a:r>
              <a:rPr dirty="0" sz="1650" spc="10" b="1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 user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in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 clear and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structured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format.</a:t>
            </a:r>
            <a:endParaRPr sz="1650">
              <a:latin typeface="Times New Roman"/>
              <a:cs typeface="Times New Roman"/>
            </a:endParaRPr>
          </a:p>
          <a:p>
            <a:pPr lvl="1" marL="469265" indent="-356235">
              <a:lnSpc>
                <a:spcPts val="1939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650">
                <a:latin typeface="Times New Roman"/>
                <a:cs typeface="Times New Roman"/>
              </a:rPr>
              <a:t>Users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can</a:t>
            </a:r>
            <a:r>
              <a:rPr dirty="0" sz="1650" spc="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easily</a:t>
            </a:r>
            <a:r>
              <a:rPr dirty="0" sz="1650" spc="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understand</a:t>
            </a:r>
            <a:r>
              <a:rPr dirty="0" sz="1650" spc="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steps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required</a:t>
            </a:r>
            <a:r>
              <a:rPr dirty="0" sz="1650" spc="1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to</a:t>
            </a:r>
            <a:r>
              <a:rPr dirty="0" sz="1650" spc="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achieve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their</a:t>
            </a:r>
            <a:r>
              <a:rPr dirty="0" sz="1650" spc="10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career</a:t>
            </a:r>
            <a:r>
              <a:rPr dirty="0" sz="1650" spc="1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goals.</a:t>
            </a:r>
            <a:endParaRPr sz="1650">
              <a:latin typeface="Times New Roman"/>
              <a:cs typeface="Times New Roman"/>
            </a:endParaRPr>
          </a:p>
          <a:p>
            <a:pPr marL="247650" indent="-234950">
              <a:lnSpc>
                <a:spcPct val="100000"/>
              </a:lnSpc>
              <a:spcBef>
                <a:spcPts val="1125"/>
              </a:spcBef>
              <a:buAutoNum type="arabicPeriod"/>
              <a:tabLst>
                <a:tab pos="247650" algn="l"/>
              </a:tabLst>
            </a:pPr>
            <a:r>
              <a:rPr dirty="0" sz="1650" b="1">
                <a:latin typeface="Arial"/>
                <a:cs typeface="Arial"/>
              </a:rPr>
              <a:t>User</a:t>
            </a:r>
            <a:r>
              <a:rPr dirty="0" sz="1650" spc="2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Interface</a:t>
            </a:r>
            <a:r>
              <a:rPr dirty="0" sz="1650" spc="2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Module</a:t>
            </a:r>
            <a:endParaRPr sz="1650">
              <a:latin typeface="Arial"/>
              <a:cs typeface="Arial"/>
            </a:endParaRPr>
          </a:p>
          <a:p>
            <a:pPr lvl="1" marL="469265" indent="-356235">
              <a:lnSpc>
                <a:spcPts val="1939"/>
              </a:lnSpc>
              <a:spcBef>
                <a:spcPts val="1125"/>
              </a:spcBef>
              <a:buChar char="●"/>
              <a:tabLst>
                <a:tab pos="469265" algn="l"/>
              </a:tabLst>
            </a:pPr>
            <a:r>
              <a:rPr dirty="0" sz="1650">
                <a:latin typeface="Arial MT"/>
                <a:cs typeface="Arial MT"/>
              </a:rPr>
              <a:t>This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module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provides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40">
                <a:latin typeface="Arial MT"/>
                <a:cs typeface="Arial MT"/>
              </a:rPr>
              <a:t> </a:t>
            </a:r>
            <a:r>
              <a:rPr dirty="0" sz="1650" b="1">
                <a:latin typeface="Arial"/>
                <a:cs typeface="Arial"/>
              </a:rPr>
              <a:t>simple</a:t>
            </a:r>
            <a:r>
              <a:rPr dirty="0" sz="1650" spc="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and</a:t>
            </a:r>
            <a:r>
              <a:rPr dirty="0" sz="1650" spc="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interactive</a:t>
            </a:r>
            <a:r>
              <a:rPr dirty="0" sz="1650" spc="30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website</a:t>
            </a:r>
            <a:r>
              <a:rPr dirty="0" sz="1650" spc="30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interface</a:t>
            </a:r>
            <a:r>
              <a:rPr dirty="0" sz="1650" spc="-10">
                <a:latin typeface="Arial MT"/>
                <a:cs typeface="Arial MT"/>
              </a:rPr>
              <a:t>.</a:t>
            </a:r>
            <a:endParaRPr sz="1650">
              <a:latin typeface="Arial MT"/>
              <a:cs typeface="Arial MT"/>
            </a:endParaRPr>
          </a:p>
          <a:p>
            <a:pPr lvl="1" marL="469265" indent="-356235">
              <a:lnSpc>
                <a:spcPts val="1939"/>
              </a:lnSpc>
              <a:buChar char="●"/>
              <a:tabLst>
                <a:tab pos="469265" algn="l"/>
              </a:tabLst>
            </a:pPr>
            <a:r>
              <a:rPr dirty="0" sz="1650">
                <a:latin typeface="Arial MT"/>
                <a:cs typeface="Arial MT"/>
              </a:rPr>
              <a:t>It</a:t>
            </a:r>
            <a:r>
              <a:rPr dirty="0" sz="1650" spc="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ensures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that</a:t>
            </a:r>
            <a:r>
              <a:rPr dirty="0" sz="1650" spc="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users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can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easily</a:t>
            </a:r>
            <a:r>
              <a:rPr dirty="0" sz="1650" spc="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navigate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interact</a:t>
            </a:r>
            <a:r>
              <a:rPr dirty="0" sz="1650" spc="2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with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system.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49" rIns="0" bIns="0" rtlCol="0" vert="horz">
            <a:spAutoFit/>
          </a:bodyPr>
          <a:lstStyle/>
          <a:p>
            <a:pPr marL="4140835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Calibri"/>
                <a:cs typeface="Calibri"/>
              </a:rPr>
              <a:t>Objectives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031315" y="6466776"/>
            <a:ext cx="1200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0979" indent="-212725">
              <a:lnSpc>
                <a:spcPct val="100000"/>
              </a:lnSpc>
              <a:spcBef>
                <a:spcPts val="100"/>
              </a:spcBef>
              <a:buSzPct val="95454"/>
              <a:buAutoNum type="arabicPeriod"/>
              <a:tabLst>
                <a:tab pos="220979" algn="l"/>
              </a:tabLst>
            </a:pPr>
            <a:r>
              <a:rPr dirty="0" spc="-35"/>
              <a:t>To </a:t>
            </a:r>
            <a:r>
              <a:rPr dirty="0"/>
              <a:t>develop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10" b="1">
                <a:latin typeface="Times New Roman"/>
                <a:cs typeface="Times New Roman"/>
              </a:rPr>
              <a:t>web-</a:t>
            </a:r>
            <a:r>
              <a:rPr dirty="0" b="1">
                <a:latin typeface="Times New Roman"/>
                <a:cs typeface="Times New Roman"/>
              </a:rPr>
              <a:t>based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platform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/>
              <a:t>that</a:t>
            </a:r>
            <a:r>
              <a:rPr dirty="0" spc="-35"/>
              <a:t> </a:t>
            </a:r>
            <a:r>
              <a:rPr dirty="0"/>
              <a:t>helps</a:t>
            </a:r>
            <a:r>
              <a:rPr dirty="0" spc="-40"/>
              <a:t> </a:t>
            </a:r>
            <a:r>
              <a:rPr dirty="0"/>
              <a:t>students</a:t>
            </a:r>
            <a:r>
              <a:rPr dirty="0" spc="-40"/>
              <a:t> </a:t>
            </a:r>
            <a:r>
              <a:rPr dirty="0"/>
              <a:t>plan</a:t>
            </a:r>
            <a:r>
              <a:rPr dirty="0" spc="-30"/>
              <a:t> </a:t>
            </a:r>
            <a:r>
              <a:rPr dirty="0"/>
              <a:t>their</a:t>
            </a:r>
            <a:r>
              <a:rPr dirty="0" spc="-35"/>
              <a:t> </a:t>
            </a:r>
            <a:r>
              <a:rPr dirty="0"/>
              <a:t>career</a:t>
            </a:r>
            <a:r>
              <a:rPr dirty="0" spc="-35"/>
              <a:t> </a:t>
            </a:r>
            <a:r>
              <a:rPr dirty="0"/>
              <a:t>paths</a:t>
            </a:r>
            <a:r>
              <a:rPr dirty="0" spc="-35"/>
              <a:t> </a:t>
            </a:r>
            <a:r>
              <a:rPr dirty="0" spc="-10"/>
              <a:t>effectively.</a:t>
            </a:r>
          </a:p>
          <a:p>
            <a:pPr marL="63500" marR="548005" indent="-55244">
              <a:lnSpc>
                <a:spcPct val="80000"/>
              </a:lnSpc>
              <a:spcBef>
                <a:spcPts val="2110"/>
              </a:spcBef>
              <a:buSzPct val="95454"/>
              <a:buAutoNum type="arabicPeriod"/>
              <a:tabLst>
                <a:tab pos="63500" algn="l"/>
                <a:tab pos="220979" algn="l"/>
              </a:tabLst>
            </a:pPr>
            <a:r>
              <a:rPr dirty="0" spc="-35"/>
              <a:t>	</a:t>
            </a:r>
            <a:r>
              <a:rPr dirty="0" spc="-35"/>
              <a:t>To</a:t>
            </a:r>
            <a:r>
              <a:rPr dirty="0" spc="-50"/>
              <a:t> </a:t>
            </a:r>
            <a:r>
              <a:rPr dirty="0"/>
              <a:t>provide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 b="1">
                <a:latin typeface="Times New Roman"/>
                <a:cs typeface="Times New Roman"/>
              </a:rPr>
              <a:t>personalized</a:t>
            </a:r>
            <a:r>
              <a:rPr dirty="0" spc="-5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career</a:t>
            </a:r>
            <a:r>
              <a:rPr dirty="0" spc="-9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roadmap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/>
              <a:t>based</a:t>
            </a:r>
            <a:r>
              <a:rPr dirty="0" spc="-45"/>
              <a:t> </a:t>
            </a:r>
            <a:r>
              <a:rPr dirty="0"/>
              <a:t>on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user’s</a:t>
            </a:r>
            <a:r>
              <a:rPr dirty="0" spc="-50"/>
              <a:t> </a:t>
            </a:r>
            <a:r>
              <a:rPr dirty="0"/>
              <a:t>interests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10"/>
              <a:t>career goals.</a:t>
            </a:r>
          </a:p>
          <a:p>
            <a:pPr marL="63500" marR="200660" indent="-55244">
              <a:lnSpc>
                <a:spcPct val="80000"/>
              </a:lnSpc>
              <a:spcBef>
                <a:spcPts val="2115"/>
              </a:spcBef>
              <a:buSzPct val="95454"/>
              <a:buAutoNum type="arabicPeriod"/>
              <a:tabLst>
                <a:tab pos="63500" algn="l"/>
                <a:tab pos="220979" algn="l"/>
              </a:tabLst>
            </a:pPr>
            <a:r>
              <a:rPr dirty="0" spc="-35"/>
              <a:t>	</a:t>
            </a:r>
            <a:r>
              <a:rPr dirty="0" spc="-35"/>
              <a:t>To</a:t>
            </a:r>
            <a:r>
              <a:rPr dirty="0" spc="-40"/>
              <a:t> </a:t>
            </a:r>
            <a:r>
              <a:rPr dirty="0"/>
              <a:t>help</a:t>
            </a:r>
            <a:r>
              <a:rPr dirty="0" spc="-40"/>
              <a:t> </a:t>
            </a:r>
            <a:r>
              <a:rPr dirty="0"/>
              <a:t>students</a:t>
            </a:r>
            <a:r>
              <a:rPr dirty="0" spc="-45"/>
              <a:t> </a:t>
            </a:r>
            <a:r>
              <a:rPr dirty="0"/>
              <a:t>understand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b="1">
                <a:latin typeface="Times New Roman"/>
                <a:cs typeface="Times New Roman"/>
              </a:rPr>
              <a:t>skills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and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learning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steps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required</a:t>
            </a:r>
            <a:r>
              <a:rPr dirty="0" spc="-35" b="1">
                <a:latin typeface="Times New Roman"/>
                <a:cs typeface="Times New Roman"/>
              </a:rPr>
              <a:t> </a:t>
            </a:r>
            <a:r>
              <a:rPr dirty="0"/>
              <a:t>for</a:t>
            </a:r>
            <a:r>
              <a:rPr dirty="0" spc="-35"/>
              <a:t> </a:t>
            </a:r>
            <a:r>
              <a:rPr dirty="0" spc="-10"/>
              <a:t>different</a:t>
            </a:r>
            <a:r>
              <a:rPr dirty="0" spc="-45"/>
              <a:t> </a:t>
            </a:r>
            <a:r>
              <a:rPr dirty="0" spc="-10"/>
              <a:t>career options.</a:t>
            </a:r>
          </a:p>
          <a:p>
            <a:pPr marL="220979" indent="-212725">
              <a:lnSpc>
                <a:spcPct val="100000"/>
              </a:lnSpc>
              <a:spcBef>
                <a:spcPts val="1580"/>
              </a:spcBef>
              <a:buSzPct val="95454"/>
              <a:buAutoNum type="arabicPeriod"/>
              <a:tabLst>
                <a:tab pos="220979" algn="l"/>
              </a:tabLst>
            </a:pPr>
            <a:r>
              <a:rPr dirty="0" spc="-35"/>
              <a:t>To</a:t>
            </a:r>
            <a:r>
              <a:rPr dirty="0" spc="-45"/>
              <a:t> </a:t>
            </a:r>
            <a:r>
              <a:rPr dirty="0"/>
              <a:t>reduce</a:t>
            </a:r>
            <a:r>
              <a:rPr dirty="0" spc="-50"/>
              <a:t> </a:t>
            </a:r>
            <a:r>
              <a:rPr dirty="0"/>
              <a:t>confusion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career</a:t>
            </a:r>
            <a:r>
              <a:rPr dirty="0" spc="-45"/>
              <a:t> </a:t>
            </a:r>
            <a:r>
              <a:rPr dirty="0"/>
              <a:t>planning</a:t>
            </a:r>
            <a:r>
              <a:rPr dirty="0" spc="-45"/>
              <a:t> </a:t>
            </a:r>
            <a:r>
              <a:rPr dirty="0"/>
              <a:t>by</a:t>
            </a:r>
            <a:r>
              <a:rPr dirty="0" spc="-45"/>
              <a:t> </a:t>
            </a:r>
            <a:r>
              <a:rPr dirty="0"/>
              <a:t>providing</a:t>
            </a:r>
            <a:r>
              <a:rPr dirty="0" spc="-40"/>
              <a:t> </a:t>
            </a:r>
            <a:r>
              <a:rPr dirty="0" b="1">
                <a:latin typeface="Times New Roman"/>
                <a:cs typeface="Times New Roman"/>
              </a:rPr>
              <a:t>clear</a:t>
            </a:r>
            <a:r>
              <a:rPr dirty="0" spc="-8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and</a:t>
            </a:r>
            <a:r>
              <a:rPr dirty="0" spc="-5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structured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guidance</a:t>
            </a:r>
            <a:r>
              <a:rPr dirty="0" spc="-10"/>
              <a:t>.</a:t>
            </a:r>
          </a:p>
          <a:p>
            <a:pPr marL="63500" marR="5080" indent="-55244">
              <a:lnSpc>
                <a:spcPts val="2110"/>
              </a:lnSpc>
              <a:spcBef>
                <a:spcPts val="2100"/>
              </a:spcBef>
              <a:buSzPct val="95454"/>
              <a:buAutoNum type="arabicPeriod"/>
              <a:tabLst>
                <a:tab pos="63500" algn="l"/>
                <a:tab pos="220979" algn="l"/>
              </a:tabLst>
            </a:pPr>
            <a:r>
              <a:rPr dirty="0" spc="-35"/>
              <a:t>	</a:t>
            </a:r>
            <a:r>
              <a:rPr dirty="0" spc="-35"/>
              <a:t>To</a:t>
            </a:r>
            <a:r>
              <a:rPr dirty="0" spc="-50"/>
              <a:t> </a:t>
            </a:r>
            <a:r>
              <a:rPr dirty="0"/>
              <a:t>create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 b="1">
                <a:latin typeface="Times New Roman"/>
                <a:cs typeface="Times New Roman"/>
              </a:rPr>
              <a:t>simple</a:t>
            </a:r>
            <a:r>
              <a:rPr dirty="0" spc="-5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and</a:t>
            </a:r>
            <a:r>
              <a:rPr dirty="0" spc="-55" b="1">
                <a:latin typeface="Times New Roman"/>
                <a:cs typeface="Times New Roman"/>
              </a:rPr>
              <a:t> </a:t>
            </a:r>
            <a:r>
              <a:rPr dirty="0" spc="-30" b="1">
                <a:latin typeface="Times New Roman"/>
                <a:cs typeface="Times New Roman"/>
              </a:rPr>
              <a:t>user-</a:t>
            </a:r>
            <a:r>
              <a:rPr dirty="0" b="1">
                <a:latin typeface="Times New Roman"/>
                <a:cs typeface="Times New Roman"/>
              </a:rPr>
              <a:t>friendly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interface</a:t>
            </a:r>
            <a:r>
              <a:rPr dirty="0" spc="-25" b="1">
                <a:latin typeface="Times New Roman"/>
                <a:cs typeface="Times New Roman"/>
              </a:rPr>
              <a:t> </a:t>
            </a:r>
            <a:r>
              <a:rPr dirty="0"/>
              <a:t>that</a:t>
            </a:r>
            <a:r>
              <a:rPr dirty="0" spc="-55"/>
              <a:t> </a:t>
            </a:r>
            <a:r>
              <a:rPr dirty="0"/>
              <a:t>allows</a:t>
            </a:r>
            <a:r>
              <a:rPr dirty="0" spc="-50"/>
              <a:t> </a:t>
            </a:r>
            <a:r>
              <a:rPr dirty="0"/>
              <a:t>users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easily</a:t>
            </a:r>
            <a:r>
              <a:rPr dirty="0" spc="-45"/>
              <a:t> </a:t>
            </a:r>
            <a:r>
              <a:rPr dirty="0"/>
              <a:t>explore</a:t>
            </a:r>
            <a:r>
              <a:rPr dirty="0" spc="-55"/>
              <a:t> </a:t>
            </a:r>
            <a:r>
              <a:rPr dirty="0" spc="-10"/>
              <a:t>career paths.</a:t>
            </a:r>
          </a:p>
          <a:p>
            <a:pPr marL="220979" indent="-212725">
              <a:lnSpc>
                <a:spcPct val="100000"/>
              </a:lnSpc>
              <a:spcBef>
                <a:spcPts val="1600"/>
              </a:spcBef>
              <a:buSzPct val="95454"/>
              <a:buAutoNum type="arabicPeriod"/>
              <a:tabLst>
                <a:tab pos="220979" algn="l"/>
              </a:tabLst>
            </a:pPr>
            <a:r>
              <a:rPr dirty="0" spc="-35"/>
              <a:t>To</a:t>
            </a:r>
            <a:r>
              <a:rPr dirty="0" spc="-40"/>
              <a:t> </a:t>
            </a:r>
            <a:r>
              <a:rPr dirty="0"/>
              <a:t>demonstrate</a:t>
            </a:r>
            <a:r>
              <a:rPr dirty="0" spc="-40"/>
              <a:t> </a:t>
            </a:r>
            <a:r>
              <a:rPr dirty="0"/>
              <a:t>how</a:t>
            </a:r>
            <a:r>
              <a:rPr dirty="0" spc="-20"/>
              <a:t> </a:t>
            </a:r>
            <a:r>
              <a:rPr dirty="0" b="1">
                <a:latin typeface="Times New Roman"/>
                <a:cs typeface="Times New Roman"/>
              </a:rPr>
              <a:t>web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technologies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can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be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used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to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build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useful</a:t>
            </a:r>
            <a:r>
              <a:rPr dirty="0" spc="-40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tools</a:t>
            </a:r>
            <a:r>
              <a:rPr dirty="0" spc="-45" b="1">
                <a:latin typeface="Times New Roman"/>
                <a:cs typeface="Times New Roman"/>
              </a:rPr>
              <a:t> </a:t>
            </a:r>
            <a:r>
              <a:rPr dirty="0" b="1">
                <a:latin typeface="Times New Roman"/>
                <a:cs typeface="Times New Roman"/>
              </a:rPr>
              <a:t>for</a:t>
            </a:r>
            <a:r>
              <a:rPr dirty="0" spc="-80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Times New Roman"/>
                <a:cs typeface="Times New Roman"/>
              </a:rPr>
              <a:t>students</a:t>
            </a:r>
            <a:r>
              <a:rPr dirty="0" spc="-1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7984" y="538680"/>
            <a:ext cx="547433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Calibri"/>
                <a:cs typeface="Calibri"/>
              </a:rPr>
              <a:t>Co’s</a:t>
            </a:r>
            <a:r>
              <a:rPr dirty="0" spc="-15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Attainments</a:t>
            </a:r>
            <a:r>
              <a:rPr dirty="0" spc="-15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-</a:t>
            </a:r>
            <a:r>
              <a:rPr dirty="0" spc="-155" b="1">
                <a:latin typeface="Calibri"/>
                <a:cs typeface="Calibri"/>
              </a:rPr>
              <a:t> </a:t>
            </a:r>
            <a:r>
              <a:rPr dirty="0" spc="-25" b="1">
                <a:latin typeface="Calibri"/>
                <a:cs typeface="Calibri"/>
              </a:rPr>
              <a:t>FWD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5124" y="1198330"/>
            <a:ext cx="3752215" cy="633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395"/>
              </a:lnSpc>
              <a:spcBef>
                <a:spcPts val="100"/>
              </a:spcBef>
              <a:tabLst>
                <a:tab pos="345440" algn="l"/>
              </a:tabLst>
            </a:pPr>
            <a:r>
              <a:rPr dirty="0" sz="1100" spc="-25">
                <a:latin typeface="Times New Roman"/>
                <a:cs typeface="Times New Roman"/>
              </a:rPr>
              <a:t>1.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2100" spc="-10">
                <a:latin typeface="Times New Roman"/>
                <a:cs typeface="Times New Roman"/>
              </a:rPr>
              <a:t>co-</a:t>
            </a:r>
            <a:r>
              <a:rPr dirty="0" sz="2100">
                <a:latin typeface="Times New Roman"/>
                <a:cs typeface="Times New Roman"/>
              </a:rPr>
              <a:t>1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-</a:t>
            </a:r>
            <a:r>
              <a:rPr dirty="0" sz="2100" spc="-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Internal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Fundamentals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 spc="-50">
                <a:latin typeface="Times New Roman"/>
                <a:cs typeface="Times New Roman"/>
              </a:rPr>
              <a:t>,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ts val="2395"/>
              </a:lnSpc>
              <a:tabLst>
                <a:tab pos="345440" algn="l"/>
              </a:tabLst>
            </a:pPr>
            <a:r>
              <a:rPr dirty="0" sz="1100" spc="-25">
                <a:latin typeface="Times New Roman"/>
                <a:cs typeface="Times New Roman"/>
              </a:rPr>
              <a:t>2.</a:t>
            </a:r>
            <a:r>
              <a:rPr dirty="0" sz="1100">
                <a:latin typeface="Times New Roman"/>
                <a:cs typeface="Times New Roman"/>
              </a:rPr>
              <a:t>	</a:t>
            </a:r>
            <a:r>
              <a:rPr dirty="0" sz="2100" spc="-10">
                <a:latin typeface="Times New Roman"/>
                <a:cs typeface="Times New Roman"/>
              </a:rPr>
              <a:t>HTML</a:t>
            </a:r>
            <a:r>
              <a:rPr dirty="0" sz="2100" spc="-1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Structure</a:t>
            </a:r>
            <a:r>
              <a:rPr dirty="0" sz="2100" spc="-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basic</a:t>
            </a:r>
            <a:r>
              <a:rPr dirty="0" sz="2100" spc="-7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CSS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90251" y="1198330"/>
            <a:ext cx="4337685" cy="633730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984250" marR="5080" indent="-972185">
              <a:lnSpc>
                <a:spcPts val="2270"/>
              </a:lnSpc>
              <a:spcBef>
                <a:spcPts val="384"/>
              </a:spcBef>
            </a:pPr>
            <a:r>
              <a:rPr dirty="0" u="heavy" sz="21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/>
                <a:cs typeface="Times New Roman"/>
                <a:hlinkClick r:id="rId2"/>
              </a:rPr>
              <a:t>2.CO</a:t>
            </a:r>
            <a:r>
              <a:rPr dirty="0" sz="2100" spc="-10">
                <a:latin typeface="Times New Roman"/>
                <a:cs typeface="Times New Roman"/>
              </a:rPr>
              <a:t>-</a:t>
            </a:r>
            <a:r>
              <a:rPr dirty="0" sz="2100">
                <a:latin typeface="Times New Roman"/>
                <a:cs typeface="Times New Roman"/>
              </a:rPr>
              <a:t>2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Times New Roman"/>
                <a:cs typeface="Times New Roman"/>
              </a:rPr>
              <a:t>-</a:t>
            </a:r>
            <a:r>
              <a:rPr dirty="0" sz="2100" spc="-10">
                <a:latin typeface="Times New Roman"/>
                <a:cs typeface="Times New Roman"/>
              </a:rPr>
              <a:t>Forms,semantic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experience</a:t>
            </a:r>
            <a:r>
              <a:rPr dirty="0" sz="2100" spc="-25">
                <a:latin typeface="Times New Roman"/>
                <a:cs typeface="Times New Roman"/>
              </a:rPr>
              <a:t> and </a:t>
            </a:r>
            <a:r>
              <a:rPr dirty="0" sz="2100">
                <a:latin typeface="Times New Roman"/>
                <a:cs typeface="Times New Roman"/>
              </a:rPr>
              <a:t>advanced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CSS</a:t>
            </a:r>
            <a:r>
              <a:rPr dirty="0" sz="2100" spc="-5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layout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0199" y="2054024"/>
            <a:ext cx="5830950" cy="31568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4237" y="1836537"/>
            <a:ext cx="3590924" cy="502146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144393" y="6479476"/>
            <a:ext cx="7493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6031315" y="6466776"/>
            <a:ext cx="1125855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4935">
              <a:lnSpc>
                <a:spcPts val="1240"/>
              </a:lnSpc>
            </a:pPr>
            <a:fld id="{81D60167-4931-47E6-BA6A-407CBD079E47}" type="slidenum">
              <a:rPr dirty="0" spc="-50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1225" y="826400"/>
            <a:ext cx="51898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Times New Roman"/>
                <a:cs typeface="Times New Roman"/>
              </a:rPr>
              <a:t>3.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CO-3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-</a:t>
            </a:r>
            <a:r>
              <a:rPr dirty="0" sz="2200">
                <a:latin typeface="Times New Roman"/>
                <a:cs typeface="Times New Roman"/>
              </a:rPr>
              <a:t>java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script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programing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fundamentals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36545" y="826400"/>
            <a:ext cx="4424680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200" spc="-1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/>
                <a:cs typeface="Times New Roman"/>
                <a:hlinkClick r:id="rId2"/>
              </a:rPr>
              <a:t>4.CO</a:t>
            </a:r>
            <a:r>
              <a:rPr dirty="0" sz="2200" spc="-10">
                <a:latin typeface="Times New Roman"/>
                <a:cs typeface="Times New Roman"/>
              </a:rPr>
              <a:t>-</a:t>
            </a:r>
            <a:r>
              <a:rPr dirty="0" sz="2200">
                <a:latin typeface="Times New Roman"/>
                <a:cs typeface="Times New Roman"/>
              </a:rPr>
              <a:t>4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DOM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manipulation,Events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69525" y="3364788"/>
            <a:ext cx="4972050" cy="67945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 indent="80010">
              <a:lnSpc>
                <a:spcPts val="2510"/>
              </a:lnSpc>
              <a:spcBef>
                <a:spcPts val="290"/>
              </a:spcBef>
            </a:pPr>
            <a:r>
              <a:rPr dirty="0" sz="2200">
                <a:latin typeface="Times New Roman"/>
                <a:cs typeface="Times New Roman"/>
              </a:rPr>
              <a:t>CO-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5</a:t>
            </a:r>
            <a:r>
              <a:rPr dirty="0" sz="2200" spc="-1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Advanced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30">
                <a:latin typeface="Times New Roman"/>
                <a:cs typeface="Times New Roman"/>
              </a:rPr>
              <a:t>Web </a:t>
            </a:r>
            <a:r>
              <a:rPr dirty="0" sz="2200">
                <a:latin typeface="Times New Roman"/>
                <a:cs typeface="Times New Roman"/>
              </a:rPr>
              <a:t>Development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Github </a:t>
            </a:r>
            <a:r>
              <a:rPr dirty="0" sz="2200" spc="-25">
                <a:latin typeface="Times New Roman"/>
                <a:cs typeface="Times New Roman"/>
              </a:rPr>
              <a:t>Version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Controls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&amp;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Deployment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3800" y="1329726"/>
            <a:ext cx="4187774" cy="53310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17037" y="1590487"/>
            <a:ext cx="4505324" cy="134302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949" rIns="0" bIns="0" rtlCol="0" vert="horz">
            <a:spAutoFit/>
          </a:bodyPr>
          <a:lstStyle/>
          <a:p>
            <a:pPr marL="4091940">
              <a:lnSpc>
                <a:spcPct val="100000"/>
              </a:lnSpc>
              <a:spcBef>
                <a:spcPts val="100"/>
              </a:spcBef>
            </a:pPr>
            <a:r>
              <a:rPr dirty="0" spc="-10" b="1">
                <a:latin typeface="Calibri"/>
                <a:cs typeface="Calibri"/>
              </a:rPr>
              <a:t>Conclusion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031315" y="6466776"/>
            <a:ext cx="1200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11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11225" y="1493059"/>
            <a:ext cx="10364470" cy="430657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441325">
              <a:lnSpc>
                <a:spcPts val="2600"/>
              </a:lnSpc>
              <a:spcBef>
                <a:spcPts val="295"/>
              </a:spcBef>
            </a:pPr>
            <a:r>
              <a:rPr dirty="0" sz="2250">
                <a:latin typeface="Times New Roman"/>
                <a:cs typeface="Times New Roman"/>
              </a:rPr>
              <a:t>The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Personalized</a:t>
            </a:r>
            <a:r>
              <a:rPr dirty="0" sz="2250" spc="45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Career</a:t>
            </a:r>
            <a:r>
              <a:rPr dirty="0" sz="2250" spc="-5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Roadmap</a:t>
            </a:r>
            <a:r>
              <a:rPr dirty="0" sz="2250" spc="45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Generator</a:t>
            </a:r>
            <a:r>
              <a:rPr dirty="0" sz="2250" spc="70" b="1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helps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users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explore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career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paths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 spc="-25">
                <a:latin typeface="Times New Roman"/>
                <a:cs typeface="Times New Roman"/>
              </a:rPr>
              <a:t>and </a:t>
            </a:r>
            <a:r>
              <a:rPr dirty="0" sz="2250">
                <a:latin typeface="Times New Roman"/>
                <a:cs typeface="Times New Roman"/>
              </a:rPr>
              <a:t>understand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the</a:t>
            </a:r>
            <a:r>
              <a:rPr dirty="0" sz="2250" spc="5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steps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required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to</a:t>
            </a:r>
            <a:r>
              <a:rPr dirty="0" sz="2250" spc="5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achieve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their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goals.</a:t>
            </a:r>
            <a:r>
              <a:rPr dirty="0" sz="2250" spc="5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By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allowing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users</a:t>
            </a:r>
            <a:r>
              <a:rPr dirty="0" sz="2250" spc="5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to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input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 spc="-10">
                <a:latin typeface="Times New Roman"/>
                <a:cs typeface="Times New Roman"/>
              </a:rPr>
              <a:t>their </a:t>
            </a:r>
            <a:r>
              <a:rPr dirty="0" sz="2250">
                <a:latin typeface="Times New Roman"/>
                <a:cs typeface="Times New Roman"/>
              </a:rPr>
              <a:t>desired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career,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the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system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generates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a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structured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roadmap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that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outlines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key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 spc="-10">
                <a:latin typeface="Times New Roman"/>
                <a:cs typeface="Times New Roman"/>
              </a:rPr>
              <a:t>skills, </a:t>
            </a:r>
            <a:r>
              <a:rPr dirty="0" sz="2250">
                <a:latin typeface="Times New Roman"/>
                <a:cs typeface="Times New Roman"/>
              </a:rPr>
              <a:t>learning</a:t>
            </a:r>
            <a:r>
              <a:rPr dirty="0" sz="2250" spc="3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stages,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and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actions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needed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to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progress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in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that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 spc="-10">
                <a:latin typeface="Times New Roman"/>
                <a:cs typeface="Times New Roman"/>
              </a:rPr>
              <a:t>field.</a:t>
            </a:r>
            <a:endParaRPr sz="2250">
              <a:latin typeface="Times New Roman"/>
              <a:cs typeface="Times New Roman"/>
            </a:endParaRPr>
          </a:p>
          <a:p>
            <a:pPr marL="12700" marR="5080">
              <a:lnSpc>
                <a:spcPts val="2600"/>
              </a:lnSpc>
              <a:spcBef>
                <a:spcPts val="1195"/>
              </a:spcBef>
            </a:pPr>
            <a:r>
              <a:rPr dirty="0" sz="2250">
                <a:latin typeface="Times New Roman"/>
                <a:cs typeface="Times New Roman"/>
              </a:rPr>
              <a:t>Additional</a:t>
            </a:r>
            <a:r>
              <a:rPr dirty="0" sz="2250" spc="2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features</a:t>
            </a:r>
            <a:r>
              <a:rPr dirty="0" sz="2250" spc="2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such</a:t>
            </a:r>
            <a:r>
              <a:rPr dirty="0" sz="2250" spc="2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as</a:t>
            </a:r>
            <a:r>
              <a:rPr dirty="0" sz="2250" spc="2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the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career</a:t>
            </a:r>
            <a:r>
              <a:rPr dirty="0" sz="2250" spc="-3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quiz,</a:t>
            </a:r>
            <a:r>
              <a:rPr dirty="0" sz="2250" spc="25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progress</a:t>
            </a:r>
            <a:r>
              <a:rPr dirty="0" sz="2250" spc="20" b="1">
                <a:latin typeface="Times New Roman"/>
                <a:cs typeface="Times New Roman"/>
              </a:rPr>
              <a:t> </a:t>
            </a:r>
            <a:r>
              <a:rPr dirty="0" sz="2250" spc="-10" b="1">
                <a:latin typeface="Times New Roman"/>
                <a:cs typeface="Times New Roman"/>
              </a:rPr>
              <a:t>tracker,</a:t>
            </a:r>
            <a:r>
              <a:rPr dirty="0" sz="2250" spc="2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and</a:t>
            </a:r>
            <a:r>
              <a:rPr dirty="0" sz="2250" spc="2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interactive</a:t>
            </a:r>
            <a:r>
              <a:rPr dirty="0" sz="2250" spc="60" b="1">
                <a:latin typeface="Times New Roman"/>
                <a:cs typeface="Times New Roman"/>
              </a:rPr>
              <a:t> </a:t>
            </a:r>
            <a:r>
              <a:rPr dirty="0" sz="2250" spc="-10" b="1">
                <a:latin typeface="Times New Roman"/>
                <a:cs typeface="Times New Roman"/>
              </a:rPr>
              <a:t>interface </a:t>
            </a:r>
            <a:r>
              <a:rPr dirty="0" sz="2250">
                <a:latin typeface="Times New Roman"/>
                <a:cs typeface="Times New Roman"/>
              </a:rPr>
              <a:t>make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the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platform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more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engaging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and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useful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for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students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who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are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unsure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about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 spc="-10">
                <a:latin typeface="Times New Roman"/>
                <a:cs typeface="Times New Roman"/>
              </a:rPr>
              <a:t>their </a:t>
            </a:r>
            <a:r>
              <a:rPr dirty="0" sz="2250">
                <a:latin typeface="Times New Roman"/>
                <a:cs typeface="Times New Roman"/>
              </a:rPr>
              <a:t>future</a:t>
            </a:r>
            <a:r>
              <a:rPr dirty="0" sz="2250" spc="3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career</a:t>
            </a:r>
            <a:r>
              <a:rPr dirty="0" sz="2250" spc="50">
                <a:latin typeface="Times New Roman"/>
                <a:cs typeface="Times New Roman"/>
              </a:rPr>
              <a:t> </a:t>
            </a:r>
            <a:r>
              <a:rPr dirty="0" sz="2250" spc="-10">
                <a:latin typeface="Times New Roman"/>
                <a:cs typeface="Times New Roman"/>
              </a:rPr>
              <a:t>direction.</a:t>
            </a:r>
            <a:endParaRPr sz="2250">
              <a:latin typeface="Times New Roman"/>
              <a:cs typeface="Times New Roman"/>
            </a:endParaRPr>
          </a:p>
          <a:p>
            <a:pPr marL="12700" marR="31115">
              <a:lnSpc>
                <a:spcPts val="2600"/>
              </a:lnSpc>
              <a:spcBef>
                <a:spcPts val="1190"/>
              </a:spcBef>
            </a:pPr>
            <a:r>
              <a:rPr dirty="0" sz="2250">
                <a:latin typeface="Times New Roman"/>
                <a:cs typeface="Times New Roman"/>
              </a:rPr>
              <a:t>Overall,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this</a:t>
            </a:r>
            <a:r>
              <a:rPr dirty="0" sz="2250" spc="5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project</a:t>
            </a:r>
            <a:r>
              <a:rPr dirty="0" sz="2250" spc="5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demonstrates</a:t>
            </a:r>
            <a:r>
              <a:rPr dirty="0" sz="2250" spc="5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how</a:t>
            </a:r>
            <a:r>
              <a:rPr dirty="0" sz="2250" spc="60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web</a:t>
            </a:r>
            <a:r>
              <a:rPr dirty="0" sz="2250" spc="5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technologies</a:t>
            </a:r>
            <a:r>
              <a:rPr dirty="0" sz="2250" spc="5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like</a:t>
            </a:r>
            <a:r>
              <a:rPr dirty="0" sz="2250" spc="5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HTML,</a:t>
            </a:r>
            <a:r>
              <a:rPr dirty="0" sz="2250" spc="5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CSS,</a:t>
            </a:r>
            <a:r>
              <a:rPr dirty="0" sz="2250" spc="50" b="1">
                <a:latin typeface="Times New Roman"/>
                <a:cs typeface="Times New Roman"/>
              </a:rPr>
              <a:t> </a:t>
            </a:r>
            <a:r>
              <a:rPr dirty="0" sz="2250" spc="-25" b="1">
                <a:latin typeface="Times New Roman"/>
                <a:cs typeface="Times New Roman"/>
              </a:rPr>
              <a:t>and </a:t>
            </a:r>
            <a:r>
              <a:rPr dirty="0" sz="2250" b="1">
                <a:latin typeface="Times New Roman"/>
                <a:cs typeface="Times New Roman"/>
              </a:rPr>
              <a:t>JavaScript</a:t>
            </a:r>
            <a:r>
              <a:rPr dirty="0" sz="2250" spc="30" b="1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can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be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used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to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create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an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interactive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tool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that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supports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career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planning</a:t>
            </a:r>
            <a:r>
              <a:rPr dirty="0" sz="2250" spc="45">
                <a:latin typeface="Times New Roman"/>
                <a:cs typeface="Times New Roman"/>
              </a:rPr>
              <a:t> </a:t>
            </a:r>
            <a:r>
              <a:rPr dirty="0" sz="2250" spc="-25">
                <a:latin typeface="Times New Roman"/>
                <a:cs typeface="Times New Roman"/>
              </a:rPr>
              <a:t>and </a:t>
            </a:r>
            <a:r>
              <a:rPr dirty="0" sz="2250">
                <a:latin typeface="Times New Roman"/>
                <a:cs typeface="Times New Roman"/>
              </a:rPr>
              <a:t>skill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development.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In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the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future,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the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system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can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be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expanded</a:t>
            </a:r>
            <a:r>
              <a:rPr dirty="0" sz="2250" spc="4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with</a:t>
            </a:r>
            <a:r>
              <a:rPr dirty="0" sz="2250" spc="65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more</a:t>
            </a:r>
            <a:r>
              <a:rPr dirty="0" sz="2250" spc="4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career</a:t>
            </a:r>
            <a:r>
              <a:rPr dirty="0" sz="2250" spc="-10" b="1">
                <a:latin typeface="Times New Roman"/>
                <a:cs typeface="Times New Roman"/>
              </a:rPr>
              <a:t> options, </a:t>
            </a:r>
            <a:r>
              <a:rPr dirty="0" sz="2250" b="1">
                <a:latin typeface="Times New Roman"/>
                <a:cs typeface="Times New Roman"/>
              </a:rPr>
              <a:t>AI-based</a:t>
            </a:r>
            <a:r>
              <a:rPr dirty="0" sz="2250" spc="5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recommendations,</a:t>
            </a:r>
            <a:r>
              <a:rPr dirty="0" sz="2250" spc="6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and</a:t>
            </a:r>
            <a:r>
              <a:rPr dirty="0" sz="2250" spc="55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integration</a:t>
            </a:r>
            <a:r>
              <a:rPr dirty="0" sz="2250" spc="6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with</a:t>
            </a:r>
            <a:r>
              <a:rPr dirty="0" sz="2250" spc="6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learning</a:t>
            </a:r>
            <a:r>
              <a:rPr dirty="0" sz="2250" spc="60" b="1">
                <a:latin typeface="Times New Roman"/>
                <a:cs typeface="Times New Roman"/>
              </a:rPr>
              <a:t> </a:t>
            </a:r>
            <a:r>
              <a:rPr dirty="0" sz="2250" b="1">
                <a:latin typeface="Times New Roman"/>
                <a:cs typeface="Times New Roman"/>
              </a:rPr>
              <a:t>platforms</a:t>
            </a:r>
            <a:r>
              <a:rPr dirty="0" sz="2250" spc="50" b="1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to</a:t>
            </a:r>
            <a:r>
              <a:rPr dirty="0" sz="2250" spc="6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provide</a:t>
            </a:r>
            <a:r>
              <a:rPr dirty="0" sz="2250" spc="60">
                <a:latin typeface="Times New Roman"/>
                <a:cs typeface="Times New Roman"/>
              </a:rPr>
              <a:t> </a:t>
            </a:r>
            <a:r>
              <a:rPr dirty="0" sz="2250" spc="-20">
                <a:latin typeface="Times New Roman"/>
                <a:cs typeface="Times New Roman"/>
              </a:rPr>
              <a:t>even </a:t>
            </a:r>
            <a:r>
              <a:rPr dirty="0" sz="2250">
                <a:latin typeface="Times New Roman"/>
                <a:cs typeface="Times New Roman"/>
              </a:rPr>
              <a:t>more</a:t>
            </a:r>
            <a:r>
              <a:rPr dirty="0" sz="2250" spc="7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personalized</a:t>
            </a:r>
            <a:r>
              <a:rPr dirty="0" sz="2250" spc="75">
                <a:latin typeface="Times New Roman"/>
                <a:cs typeface="Times New Roman"/>
              </a:rPr>
              <a:t> </a:t>
            </a:r>
            <a:r>
              <a:rPr dirty="0" sz="2250" spc="-10">
                <a:latin typeface="Times New Roman"/>
                <a:cs typeface="Times New Roman"/>
              </a:rPr>
              <a:t>guidance.</a:t>
            </a:r>
            <a:endParaRPr sz="2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9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Geo-</a:t>
            </a:r>
            <a:r>
              <a:rPr dirty="0" spc="-130"/>
              <a:t> </a:t>
            </a:r>
            <a:r>
              <a:rPr dirty="0" spc="-90"/>
              <a:t>Tag</a:t>
            </a:r>
            <a:r>
              <a:rPr dirty="0" spc="-125"/>
              <a:t> </a:t>
            </a:r>
            <a:r>
              <a:rPr dirty="0" spc="-10"/>
              <a:t>Photos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825625"/>
            <a:ext cx="4046499" cy="35592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0150" y="1289152"/>
            <a:ext cx="5935491" cy="445159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031315" y="6466776"/>
            <a:ext cx="1200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1562" y="2662239"/>
            <a:ext cx="272732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-155"/>
              <a:t> </a:t>
            </a:r>
            <a:r>
              <a:rPr dirty="0" spc="-25"/>
              <a:t>YOU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0"/>
              <a:t>04-03-2026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173030211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031315" y="6466776"/>
            <a:ext cx="120015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PBL</dc:title>
  <dcterms:created xsi:type="dcterms:W3CDTF">2026-03-10T03:03:25Z</dcterms:created>
  <dcterms:modified xsi:type="dcterms:W3CDTF">2026-03-10T03:03:25Z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2026-03-10T00:00:00Z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2026-03-10T00:00:00Z</vt:filetime>
  </property>
</Properties>
</file>